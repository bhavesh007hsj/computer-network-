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1027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0295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8068" y="502396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639444" h="639444">
                <a:moveTo>
                  <a:pt x="319706" y="639413"/>
                </a:moveTo>
                <a:lnTo>
                  <a:pt x="272462" y="635946"/>
                </a:lnTo>
                <a:lnTo>
                  <a:pt x="227371" y="625877"/>
                </a:lnTo>
                <a:lnTo>
                  <a:pt x="184926" y="609698"/>
                </a:lnTo>
                <a:lnTo>
                  <a:pt x="145623" y="587906"/>
                </a:lnTo>
                <a:lnTo>
                  <a:pt x="109955" y="560994"/>
                </a:lnTo>
                <a:lnTo>
                  <a:pt x="78418" y="529457"/>
                </a:lnTo>
                <a:lnTo>
                  <a:pt x="51506" y="493790"/>
                </a:lnTo>
                <a:lnTo>
                  <a:pt x="29714" y="454486"/>
                </a:lnTo>
                <a:lnTo>
                  <a:pt x="13536" y="412042"/>
                </a:lnTo>
                <a:lnTo>
                  <a:pt x="3466" y="366950"/>
                </a:lnTo>
                <a:lnTo>
                  <a:pt x="0" y="319706"/>
                </a:lnTo>
                <a:lnTo>
                  <a:pt x="3466" y="272462"/>
                </a:lnTo>
                <a:lnTo>
                  <a:pt x="13536" y="227371"/>
                </a:lnTo>
                <a:lnTo>
                  <a:pt x="29714" y="184926"/>
                </a:lnTo>
                <a:lnTo>
                  <a:pt x="51506" y="145622"/>
                </a:lnTo>
                <a:lnTo>
                  <a:pt x="78418" y="109955"/>
                </a:lnTo>
                <a:lnTo>
                  <a:pt x="109955" y="78418"/>
                </a:lnTo>
                <a:lnTo>
                  <a:pt x="145623" y="51506"/>
                </a:lnTo>
                <a:lnTo>
                  <a:pt x="184926" y="29714"/>
                </a:lnTo>
                <a:lnTo>
                  <a:pt x="227371" y="13536"/>
                </a:lnTo>
                <a:lnTo>
                  <a:pt x="272462" y="3466"/>
                </a:lnTo>
                <a:lnTo>
                  <a:pt x="319706" y="0"/>
                </a:lnTo>
                <a:lnTo>
                  <a:pt x="370021" y="3982"/>
                </a:lnTo>
                <a:lnTo>
                  <a:pt x="418644" y="15693"/>
                </a:lnTo>
                <a:lnTo>
                  <a:pt x="464716" y="34777"/>
                </a:lnTo>
                <a:lnTo>
                  <a:pt x="507379" y="60877"/>
                </a:lnTo>
                <a:lnTo>
                  <a:pt x="545773" y="93639"/>
                </a:lnTo>
                <a:lnTo>
                  <a:pt x="578535" y="132034"/>
                </a:lnTo>
                <a:lnTo>
                  <a:pt x="604635" y="174696"/>
                </a:lnTo>
                <a:lnTo>
                  <a:pt x="623719" y="220768"/>
                </a:lnTo>
                <a:lnTo>
                  <a:pt x="635430" y="269391"/>
                </a:lnTo>
                <a:lnTo>
                  <a:pt x="639413" y="319706"/>
                </a:lnTo>
                <a:lnTo>
                  <a:pt x="635946" y="366950"/>
                </a:lnTo>
                <a:lnTo>
                  <a:pt x="625877" y="412042"/>
                </a:lnTo>
                <a:lnTo>
                  <a:pt x="609698" y="454486"/>
                </a:lnTo>
                <a:lnTo>
                  <a:pt x="587906" y="493790"/>
                </a:lnTo>
                <a:lnTo>
                  <a:pt x="560994" y="529457"/>
                </a:lnTo>
                <a:lnTo>
                  <a:pt x="529457" y="560994"/>
                </a:lnTo>
                <a:lnTo>
                  <a:pt x="493790" y="587906"/>
                </a:lnTo>
                <a:lnTo>
                  <a:pt x="454486" y="609698"/>
                </a:lnTo>
                <a:lnTo>
                  <a:pt x="412042" y="625877"/>
                </a:lnTo>
                <a:lnTo>
                  <a:pt x="366950" y="635946"/>
                </a:lnTo>
                <a:lnTo>
                  <a:pt x="319706" y="639413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95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95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20295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7471" y="562010"/>
            <a:ext cx="71170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20295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058" y="2019660"/>
            <a:ext cx="6535420" cy="151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023" y="6590002"/>
            <a:ext cx="262255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61456" y="6590002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B6A74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BFAC-5C44-35D3-5C80-00F237AD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1A00A-01B5-4F76-716A-FAE88020A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5B65F-6185-2918-B071-B93C13F5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60" y="380736"/>
            <a:ext cx="10836579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68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2029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29682" y="1187481"/>
            <a:ext cx="3380104" cy="384175"/>
          </a:xfrm>
          <a:custGeom>
            <a:avLst/>
            <a:gdLst/>
            <a:ahLst/>
            <a:cxnLst/>
            <a:rect l="l" t="t" r="r" b="b"/>
            <a:pathLst>
              <a:path w="3380104" h="384175">
                <a:moveTo>
                  <a:pt x="3379875" y="383599"/>
                </a:moveTo>
                <a:lnTo>
                  <a:pt x="0" y="383599"/>
                </a:lnTo>
                <a:lnTo>
                  <a:pt x="0" y="0"/>
                </a:lnTo>
                <a:lnTo>
                  <a:pt x="3379875" y="0"/>
                </a:lnTo>
                <a:lnTo>
                  <a:pt x="3379875" y="383599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75354" y="1689877"/>
            <a:ext cx="3288665" cy="384175"/>
          </a:xfrm>
          <a:prstGeom prst="rect">
            <a:avLst/>
          </a:prstGeom>
          <a:solidFill>
            <a:srgbClr val="1B7293"/>
          </a:solidFill>
        </p:spPr>
        <p:txBody>
          <a:bodyPr vert="horz" wrap="square" lIns="0" tIns="12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Zero</a:t>
            </a:r>
            <a:r>
              <a:rPr sz="24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21027" y="2192273"/>
            <a:ext cx="3197225" cy="384175"/>
          </a:xfrm>
          <a:prstGeom prst="rect">
            <a:avLst/>
          </a:prstGeom>
          <a:solidFill>
            <a:srgbClr val="2E86AB"/>
          </a:solidFill>
        </p:spPr>
        <p:txBody>
          <a:bodyPr vert="horz" wrap="square" lIns="0" tIns="127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10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66700" y="2694670"/>
            <a:ext cx="3105785" cy="384175"/>
          </a:xfrm>
          <a:custGeom>
            <a:avLst/>
            <a:gdLst/>
            <a:ahLst/>
            <a:cxnLst/>
            <a:rect l="l" t="t" r="r" b="b"/>
            <a:pathLst>
              <a:path w="3105784" h="384175">
                <a:moveTo>
                  <a:pt x="3105661" y="383599"/>
                </a:moveTo>
                <a:lnTo>
                  <a:pt x="0" y="383599"/>
                </a:lnTo>
                <a:lnTo>
                  <a:pt x="0" y="0"/>
                </a:lnTo>
                <a:lnTo>
                  <a:pt x="3105661" y="0"/>
                </a:lnTo>
                <a:lnTo>
                  <a:pt x="3105661" y="383599"/>
                </a:lnTo>
                <a:close/>
              </a:path>
            </a:pathLst>
          </a:custGeom>
          <a:solidFill>
            <a:srgbClr val="3AA6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8058" y="1474793"/>
            <a:ext cx="15201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9ED3E7"/>
                </a:solidFill>
                <a:latin typeface="Calibri"/>
                <a:cs typeface="Calibri"/>
              </a:rPr>
              <a:t>FINAL</a:t>
            </a:r>
            <a:r>
              <a:rPr sz="1400" spc="-45" dirty="0">
                <a:solidFill>
                  <a:srgbClr val="9ED3E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9ED3E7"/>
                </a:solidFill>
                <a:latin typeface="Calibri"/>
                <a:cs typeface="Calibri"/>
              </a:rPr>
              <a:t>YEAR</a:t>
            </a:r>
            <a:r>
              <a:rPr sz="1400" spc="-45" dirty="0">
                <a:solidFill>
                  <a:srgbClr val="9ED3E7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9ED3E7"/>
                </a:solidFill>
                <a:latin typeface="Calibri"/>
                <a:cs typeface="Calibri"/>
              </a:rPr>
              <a:t>PROJECT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/>
              <a:t>An</a:t>
            </a:r>
            <a:r>
              <a:rPr spc="-105" dirty="0"/>
              <a:t> </a:t>
            </a:r>
            <a:r>
              <a:rPr dirty="0"/>
              <a:t>Intelligent</a:t>
            </a:r>
            <a:r>
              <a:rPr spc="-105" dirty="0"/>
              <a:t> </a:t>
            </a:r>
            <a:r>
              <a:rPr spc="-10" dirty="0"/>
              <a:t>Network</a:t>
            </a:r>
            <a:r>
              <a:rPr spc="-100" dirty="0"/>
              <a:t> </a:t>
            </a:r>
            <a:r>
              <a:rPr dirty="0"/>
              <a:t>Diagnosis</a:t>
            </a:r>
            <a:r>
              <a:rPr spc="-105" dirty="0"/>
              <a:t> </a:t>
            </a:r>
            <a:r>
              <a:rPr spc="-25" dirty="0"/>
              <a:t>and </a:t>
            </a:r>
            <a:r>
              <a:rPr spc="-20" dirty="0"/>
              <a:t>Automated</a:t>
            </a:r>
            <a:r>
              <a:rPr spc="-85" dirty="0"/>
              <a:t> </a:t>
            </a:r>
            <a:r>
              <a:rPr spc="-10" dirty="0"/>
              <a:t>Troubleshooting </a:t>
            </a:r>
            <a:r>
              <a:rPr spc="-20" dirty="0"/>
              <a:t>Recommendation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8058" y="4042566"/>
            <a:ext cx="32238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i="1" dirty="0">
                <a:solidFill>
                  <a:srgbClr val="C7DBE6"/>
                </a:solidFill>
                <a:latin typeface="Calibri"/>
                <a:cs typeface="Calibri"/>
              </a:rPr>
              <a:t>for</a:t>
            </a:r>
            <a:r>
              <a:rPr sz="1500" i="1" spc="-45" dirty="0">
                <a:solidFill>
                  <a:srgbClr val="C7DBE6"/>
                </a:solidFill>
                <a:latin typeface="Calibri"/>
                <a:cs typeface="Calibri"/>
              </a:rPr>
              <a:t> </a:t>
            </a:r>
            <a:r>
              <a:rPr sz="1500" i="1" spc="-20" dirty="0">
                <a:solidFill>
                  <a:srgbClr val="C7DBE6"/>
                </a:solidFill>
                <a:latin typeface="Calibri"/>
                <a:cs typeface="Calibri"/>
              </a:rPr>
              <a:t>Real-</a:t>
            </a:r>
            <a:r>
              <a:rPr sz="1500" i="1" dirty="0">
                <a:solidFill>
                  <a:srgbClr val="C7DBE6"/>
                </a:solidFill>
                <a:latin typeface="Calibri"/>
                <a:cs typeface="Calibri"/>
              </a:rPr>
              <a:t>Time</a:t>
            </a:r>
            <a:r>
              <a:rPr sz="1500" i="1" spc="-45" dirty="0">
                <a:solidFill>
                  <a:srgbClr val="C7DBE6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7DBE6"/>
                </a:solidFill>
                <a:latin typeface="Calibri"/>
                <a:cs typeface="Calibri"/>
              </a:rPr>
              <a:t>Network</a:t>
            </a:r>
            <a:r>
              <a:rPr sz="1500" i="1" spc="-40" dirty="0">
                <a:solidFill>
                  <a:srgbClr val="C7DBE6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C7DBE6"/>
                </a:solidFill>
                <a:latin typeface="Calibri"/>
                <a:cs typeface="Calibri"/>
              </a:rPr>
              <a:t>Health</a:t>
            </a:r>
            <a:r>
              <a:rPr sz="1500" i="1" spc="-45" dirty="0">
                <a:solidFill>
                  <a:srgbClr val="C7DBE6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C7DBE6"/>
                </a:solidFill>
                <a:latin typeface="Calibri"/>
                <a:cs typeface="Calibri"/>
              </a:rPr>
              <a:t>Monitoring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058" y="4898061"/>
            <a:ext cx="906144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C97A5"/>
                </a:solidFill>
                <a:latin typeface="Calibri"/>
                <a:cs typeface="Calibri"/>
              </a:rPr>
              <a:t>STUDENT</a:t>
            </a:r>
            <a:r>
              <a:rPr sz="1050" dirty="0">
                <a:solidFill>
                  <a:srgbClr val="7C97A5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7C97A5"/>
                </a:solidFill>
                <a:latin typeface="Calibri"/>
                <a:cs typeface="Calibri"/>
              </a:rPr>
              <a:t>NAME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01676" y="4886960"/>
            <a:ext cx="84391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NS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BHAVESH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8058" y="5263440"/>
            <a:ext cx="106680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C97A5"/>
                </a:solidFill>
                <a:latin typeface="Calibri"/>
                <a:cs typeface="Calibri"/>
              </a:rPr>
              <a:t>REGISTER NUMBER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1676" y="5252339"/>
            <a:ext cx="74866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192565086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8058" y="5628819"/>
            <a:ext cx="77470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C97A5"/>
                </a:solidFill>
                <a:latin typeface="Calibri"/>
                <a:cs typeface="Calibri"/>
              </a:rPr>
              <a:t>DEPARTMENT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1676" y="5617718"/>
            <a:ext cx="242951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1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Cybersecurity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058" y="5994198"/>
            <a:ext cx="375920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7C97A5"/>
                </a:solidFill>
                <a:latin typeface="Calibri"/>
                <a:cs typeface="Calibri"/>
              </a:rPr>
              <a:t>GUIDE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1676" y="5983097"/>
            <a:ext cx="9302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25" dirty="0">
                <a:solidFill>
                  <a:srgbClr val="FFFFFF"/>
                </a:solidFill>
                <a:latin typeface="Calibri"/>
                <a:cs typeface="Calibri"/>
              </a:rPr>
              <a:t>Dr.V.Parthipan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102" y="2064391"/>
            <a:ext cx="146151" cy="1461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1705" y="2010205"/>
            <a:ext cx="328930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Networks</a:t>
            </a:r>
            <a:r>
              <a:rPr sz="1500" spc="-3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are</a:t>
            </a:r>
            <a:r>
              <a:rPr sz="150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essential</a:t>
            </a:r>
            <a:r>
              <a:rPr sz="150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for</a:t>
            </a:r>
            <a:r>
              <a:rPr sz="150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communication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102" y="3114855"/>
            <a:ext cx="146151" cy="1461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1705" y="3060670"/>
            <a:ext cx="403732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Manual</a:t>
            </a:r>
            <a:r>
              <a:rPr sz="150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5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troubleshooting</a:t>
            </a:r>
            <a:r>
              <a:rPr sz="15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is</a:t>
            </a:r>
            <a:r>
              <a:rPr sz="15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1B1F26"/>
                </a:solidFill>
                <a:latin typeface="Calibri"/>
                <a:cs typeface="Calibri"/>
              </a:rPr>
              <a:t>time-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consuming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102" y="4165320"/>
            <a:ext cx="146151" cy="14615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1705" y="4111135"/>
            <a:ext cx="32111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Delayed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fault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detection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causes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downtime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102" y="5215784"/>
            <a:ext cx="146151" cy="14615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101705" y="5161599"/>
            <a:ext cx="404749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An</a:t>
            </a:r>
            <a:r>
              <a:rPr sz="1500" spc="-5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intelligent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B1F26"/>
                </a:solidFill>
                <a:latin typeface="Calibri"/>
                <a:cs typeface="Calibri"/>
              </a:rPr>
              <a:t>monitoring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system</a:t>
            </a:r>
            <a:r>
              <a:rPr sz="1500" spc="-5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improves</a:t>
            </a:r>
            <a:r>
              <a:rPr sz="15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B1F26"/>
                </a:solidFill>
                <a:latin typeface="Calibri"/>
                <a:cs typeface="Calibri"/>
              </a:rPr>
              <a:t>reliability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1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068" y="502396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639444" h="639444">
                <a:moveTo>
                  <a:pt x="319706" y="639413"/>
                </a:moveTo>
                <a:lnTo>
                  <a:pt x="272462" y="635946"/>
                </a:lnTo>
                <a:lnTo>
                  <a:pt x="227371" y="625877"/>
                </a:lnTo>
                <a:lnTo>
                  <a:pt x="184926" y="609698"/>
                </a:lnTo>
                <a:lnTo>
                  <a:pt x="145623" y="587906"/>
                </a:lnTo>
                <a:lnTo>
                  <a:pt x="109955" y="560994"/>
                </a:lnTo>
                <a:lnTo>
                  <a:pt x="78418" y="529457"/>
                </a:lnTo>
                <a:lnTo>
                  <a:pt x="51506" y="493790"/>
                </a:lnTo>
                <a:lnTo>
                  <a:pt x="29714" y="454486"/>
                </a:lnTo>
                <a:lnTo>
                  <a:pt x="13536" y="412042"/>
                </a:lnTo>
                <a:lnTo>
                  <a:pt x="3466" y="366950"/>
                </a:lnTo>
                <a:lnTo>
                  <a:pt x="0" y="319706"/>
                </a:lnTo>
                <a:lnTo>
                  <a:pt x="3466" y="272462"/>
                </a:lnTo>
                <a:lnTo>
                  <a:pt x="13536" y="227371"/>
                </a:lnTo>
                <a:lnTo>
                  <a:pt x="29714" y="184926"/>
                </a:lnTo>
                <a:lnTo>
                  <a:pt x="51506" y="145622"/>
                </a:lnTo>
                <a:lnTo>
                  <a:pt x="78418" y="109955"/>
                </a:lnTo>
                <a:lnTo>
                  <a:pt x="109955" y="78418"/>
                </a:lnTo>
                <a:lnTo>
                  <a:pt x="145623" y="51506"/>
                </a:lnTo>
                <a:lnTo>
                  <a:pt x="184926" y="29714"/>
                </a:lnTo>
                <a:lnTo>
                  <a:pt x="227371" y="13536"/>
                </a:lnTo>
                <a:lnTo>
                  <a:pt x="272462" y="3466"/>
                </a:lnTo>
                <a:lnTo>
                  <a:pt x="319706" y="0"/>
                </a:lnTo>
                <a:lnTo>
                  <a:pt x="370021" y="3982"/>
                </a:lnTo>
                <a:lnTo>
                  <a:pt x="418644" y="15693"/>
                </a:lnTo>
                <a:lnTo>
                  <a:pt x="464716" y="34777"/>
                </a:lnTo>
                <a:lnTo>
                  <a:pt x="507379" y="60877"/>
                </a:lnTo>
                <a:lnTo>
                  <a:pt x="545773" y="93639"/>
                </a:lnTo>
                <a:lnTo>
                  <a:pt x="578535" y="132034"/>
                </a:lnTo>
                <a:lnTo>
                  <a:pt x="604635" y="174696"/>
                </a:lnTo>
                <a:lnTo>
                  <a:pt x="623719" y="220768"/>
                </a:lnTo>
                <a:lnTo>
                  <a:pt x="635430" y="269391"/>
                </a:lnTo>
                <a:lnTo>
                  <a:pt x="639413" y="319706"/>
                </a:lnTo>
                <a:lnTo>
                  <a:pt x="635946" y="366950"/>
                </a:lnTo>
                <a:lnTo>
                  <a:pt x="625877" y="412042"/>
                </a:lnTo>
                <a:lnTo>
                  <a:pt x="609698" y="454486"/>
                </a:lnTo>
                <a:lnTo>
                  <a:pt x="587906" y="493790"/>
                </a:lnTo>
                <a:lnTo>
                  <a:pt x="560994" y="529457"/>
                </a:lnTo>
                <a:lnTo>
                  <a:pt x="529457" y="560994"/>
                </a:lnTo>
                <a:lnTo>
                  <a:pt x="493790" y="587906"/>
                </a:lnTo>
                <a:lnTo>
                  <a:pt x="454486" y="609698"/>
                </a:lnTo>
                <a:lnTo>
                  <a:pt x="412042" y="625877"/>
                </a:lnTo>
                <a:lnTo>
                  <a:pt x="366950" y="635946"/>
                </a:lnTo>
                <a:lnTo>
                  <a:pt x="319706" y="639413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60" dirty="0"/>
              <a:t> </a:t>
            </a:r>
            <a:r>
              <a:rPr spc="-10" dirty="0"/>
              <a:t>Statement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63292" y="1684802"/>
            <a:ext cx="5405120" cy="2070735"/>
            <a:chOff x="563292" y="1684802"/>
            <a:chExt cx="5405120" cy="20707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292" y="1684802"/>
              <a:ext cx="5404564" cy="20704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9413" y="1735550"/>
              <a:ext cx="5252720" cy="1918335"/>
            </a:xfrm>
            <a:custGeom>
              <a:avLst/>
              <a:gdLst/>
              <a:ahLst/>
              <a:cxnLst/>
              <a:rect l="l" t="t" r="r" b="b"/>
              <a:pathLst>
                <a:path w="5252720" h="1918335">
                  <a:moveTo>
                    <a:pt x="5160976" y="1918239"/>
                  </a:moveTo>
                  <a:lnTo>
                    <a:pt x="91346" y="1918239"/>
                  </a:lnTo>
                  <a:lnTo>
                    <a:pt x="55790" y="1911061"/>
                  </a:lnTo>
                  <a:lnTo>
                    <a:pt x="26754" y="1891485"/>
                  </a:lnTo>
                  <a:lnTo>
                    <a:pt x="7178" y="1862449"/>
                  </a:lnTo>
                  <a:lnTo>
                    <a:pt x="0" y="1826893"/>
                  </a:lnTo>
                  <a:lnTo>
                    <a:pt x="0" y="91346"/>
                  </a:lnTo>
                  <a:lnTo>
                    <a:pt x="7178" y="55790"/>
                  </a:lnTo>
                  <a:lnTo>
                    <a:pt x="26754" y="26754"/>
                  </a:lnTo>
                  <a:lnTo>
                    <a:pt x="55790" y="7178"/>
                  </a:lnTo>
                  <a:lnTo>
                    <a:pt x="91346" y="0"/>
                  </a:lnTo>
                  <a:lnTo>
                    <a:pt x="5160976" y="0"/>
                  </a:lnTo>
                  <a:lnTo>
                    <a:pt x="5211655" y="15347"/>
                  </a:lnTo>
                  <a:lnTo>
                    <a:pt x="5245369" y="56389"/>
                  </a:lnTo>
                  <a:lnTo>
                    <a:pt x="5252323" y="91346"/>
                  </a:lnTo>
                  <a:lnTo>
                    <a:pt x="5252323" y="1826893"/>
                  </a:lnTo>
                  <a:lnTo>
                    <a:pt x="5245144" y="1862449"/>
                  </a:lnTo>
                  <a:lnTo>
                    <a:pt x="5225568" y="1891485"/>
                  </a:lnTo>
                  <a:lnTo>
                    <a:pt x="5196532" y="1911061"/>
                  </a:lnTo>
                  <a:lnTo>
                    <a:pt x="5160976" y="1918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3447" y="20095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378" y="456723"/>
                  </a:moveTo>
                  <a:lnTo>
                    <a:pt x="91344" y="456723"/>
                  </a:lnTo>
                  <a:lnTo>
                    <a:pt x="55789" y="449545"/>
                  </a:lnTo>
                  <a:lnTo>
                    <a:pt x="26754" y="429969"/>
                  </a:lnTo>
                  <a:lnTo>
                    <a:pt x="7178" y="400934"/>
                  </a:lnTo>
                  <a:lnTo>
                    <a:pt x="0" y="365378"/>
                  </a:lnTo>
                  <a:lnTo>
                    <a:pt x="0" y="91344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4" y="0"/>
                  </a:lnTo>
                  <a:lnTo>
                    <a:pt x="365378" y="0"/>
                  </a:lnTo>
                  <a:lnTo>
                    <a:pt x="416057" y="15346"/>
                  </a:lnTo>
                  <a:lnTo>
                    <a:pt x="449770" y="56388"/>
                  </a:lnTo>
                  <a:lnTo>
                    <a:pt x="456723" y="91344"/>
                  </a:lnTo>
                  <a:lnTo>
                    <a:pt x="456723" y="365378"/>
                  </a:lnTo>
                  <a:lnTo>
                    <a:pt x="449545" y="400934"/>
                  </a:lnTo>
                  <a:lnTo>
                    <a:pt x="429969" y="429969"/>
                  </a:lnTo>
                  <a:lnTo>
                    <a:pt x="400934" y="449545"/>
                  </a:lnTo>
                  <a:lnTo>
                    <a:pt x="365378" y="456723"/>
                  </a:lnTo>
                  <a:close/>
                </a:path>
              </a:pathLst>
            </a:custGeom>
            <a:solidFill>
              <a:srgbClr val="202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72018" y="2088863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747" y="2637883"/>
            <a:ext cx="3439160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b="1" dirty="0">
                <a:solidFill>
                  <a:srgbClr val="20295C"/>
                </a:solidFill>
                <a:latin typeface="Calibri"/>
                <a:cs typeface="Calibri"/>
              </a:rPr>
              <a:t>Continuous</a:t>
            </a:r>
            <a:r>
              <a:rPr sz="1450" b="1" spc="-40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0295C"/>
                </a:solidFill>
                <a:latin typeface="Calibri"/>
                <a:cs typeface="Calibri"/>
              </a:rPr>
              <a:t>Manual</a:t>
            </a:r>
            <a:r>
              <a:rPr sz="1450" b="1" spc="-40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20295C"/>
                </a:solidFill>
                <a:latin typeface="Calibri"/>
                <a:cs typeface="Calibri"/>
              </a:rPr>
              <a:t>Effort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Manual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monitoring</a:t>
            </a:r>
            <a:r>
              <a:rPr sz="120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requires</a:t>
            </a:r>
            <a:r>
              <a:rPr sz="120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constant</a:t>
            </a:r>
            <a:r>
              <a:rPr sz="120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human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attention.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80994" y="1684802"/>
            <a:ext cx="5405120" cy="2070735"/>
            <a:chOff x="6180994" y="1684802"/>
            <a:chExt cx="5405120" cy="207073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0994" y="1684802"/>
              <a:ext cx="5404564" cy="20704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57115" y="1735550"/>
              <a:ext cx="5252720" cy="1918335"/>
            </a:xfrm>
            <a:custGeom>
              <a:avLst/>
              <a:gdLst/>
              <a:ahLst/>
              <a:cxnLst/>
              <a:rect l="l" t="t" r="r" b="b"/>
              <a:pathLst>
                <a:path w="5252720" h="1918335">
                  <a:moveTo>
                    <a:pt x="5160977" y="1918239"/>
                  </a:moveTo>
                  <a:lnTo>
                    <a:pt x="91346" y="1918239"/>
                  </a:lnTo>
                  <a:lnTo>
                    <a:pt x="55790" y="1911061"/>
                  </a:lnTo>
                  <a:lnTo>
                    <a:pt x="26754" y="1891485"/>
                  </a:lnTo>
                  <a:lnTo>
                    <a:pt x="7178" y="1862449"/>
                  </a:lnTo>
                  <a:lnTo>
                    <a:pt x="0" y="1826893"/>
                  </a:lnTo>
                  <a:lnTo>
                    <a:pt x="0" y="91346"/>
                  </a:lnTo>
                  <a:lnTo>
                    <a:pt x="7178" y="55790"/>
                  </a:lnTo>
                  <a:lnTo>
                    <a:pt x="26754" y="26754"/>
                  </a:lnTo>
                  <a:lnTo>
                    <a:pt x="55790" y="7178"/>
                  </a:lnTo>
                  <a:lnTo>
                    <a:pt x="91346" y="0"/>
                  </a:lnTo>
                  <a:lnTo>
                    <a:pt x="5160977" y="0"/>
                  </a:lnTo>
                  <a:lnTo>
                    <a:pt x="5211655" y="15347"/>
                  </a:lnTo>
                  <a:lnTo>
                    <a:pt x="5245369" y="56389"/>
                  </a:lnTo>
                  <a:lnTo>
                    <a:pt x="5252323" y="91346"/>
                  </a:lnTo>
                  <a:lnTo>
                    <a:pt x="5252323" y="1826893"/>
                  </a:lnTo>
                  <a:lnTo>
                    <a:pt x="5245144" y="1862449"/>
                  </a:lnTo>
                  <a:lnTo>
                    <a:pt x="5225568" y="1891485"/>
                  </a:lnTo>
                  <a:lnTo>
                    <a:pt x="5196533" y="1911061"/>
                  </a:lnTo>
                  <a:lnTo>
                    <a:pt x="5160977" y="19182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31149" y="20095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378" y="456723"/>
                  </a:moveTo>
                  <a:lnTo>
                    <a:pt x="91344" y="456723"/>
                  </a:lnTo>
                  <a:lnTo>
                    <a:pt x="55789" y="449545"/>
                  </a:lnTo>
                  <a:lnTo>
                    <a:pt x="26754" y="429969"/>
                  </a:lnTo>
                  <a:lnTo>
                    <a:pt x="7178" y="400934"/>
                  </a:lnTo>
                  <a:lnTo>
                    <a:pt x="0" y="365378"/>
                  </a:lnTo>
                  <a:lnTo>
                    <a:pt x="0" y="91344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4" y="0"/>
                  </a:lnTo>
                  <a:lnTo>
                    <a:pt x="365378" y="0"/>
                  </a:lnTo>
                  <a:lnTo>
                    <a:pt x="416057" y="15346"/>
                  </a:lnTo>
                  <a:lnTo>
                    <a:pt x="449770" y="56388"/>
                  </a:lnTo>
                  <a:lnTo>
                    <a:pt x="456723" y="91344"/>
                  </a:lnTo>
                  <a:lnTo>
                    <a:pt x="456723" y="365378"/>
                  </a:lnTo>
                  <a:lnTo>
                    <a:pt x="449545" y="400934"/>
                  </a:lnTo>
                  <a:lnTo>
                    <a:pt x="429969" y="429969"/>
                  </a:lnTo>
                  <a:lnTo>
                    <a:pt x="400934" y="449545"/>
                  </a:lnTo>
                  <a:lnTo>
                    <a:pt x="365378" y="456723"/>
                  </a:lnTo>
                  <a:close/>
                </a:path>
              </a:pathLst>
            </a:custGeom>
            <a:solidFill>
              <a:srgbClr val="202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89721" y="2088863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18449" y="2637883"/>
            <a:ext cx="2840990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b="1" dirty="0">
                <a:solidFill>
                  <a:srgbClr val="20295C"/>
                </a:solidFill>
                <a:latin typeface="Calibri"/>
                <a:cs typeface="Calibri"/>
              </a:rPr>
              <a:t>Slow</a:t>
            </a:r>
            <a:r>
              <a:rPr sz="1450" b="1" spc="-35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0295C"/>
                </a:solidFill>
                <a:latin typeface="Calibri"/>
                <a:cs typeface="Calibri"/>
              </a:rPr>
              <a:t>Fault</a:t>
            </a:r>
            <a:r>
              <a:rPr sz="1450" b="1" spc="-30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20295C"/>
                </a:solidFill>
                <a:latin typeface="Calibri"/>
                <a:cs typeface="Calibri"/>
              </a:rPr>
              <a:t>Identification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20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faults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are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difficult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identify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quickly.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3292" y="3877076"/>
            <a:ext cx="5405120" cy="2070735"/>
            <a:chOff x="563292" y="3877076"/>
            <a:chExt cx="5405120" cy="207073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292" y="3877076"/>
              <a:ext cx="5404564" cy="20704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9413" y="3927824"/>
              <a:ext cx="5252720" cy="1918335"/>
            </a:xfrm>
            <a:custGeom>
              <a:avLst/>
              <a:gdLst/>
              <a:ahLst/>
              <a:cxnLst/>
              <a:rect l="l" t="t" r="r" b="b"/>
              <a:pathLst>
                <a:path w="5252720" h="1918335">
                  <a:moveTo>
                    <a:pt x="5160976" y="1918240"/>
                  </a:moveTo>
                  <a:lnTo>
                    <a:pt x="91346" y="1918240"/>
                  </a:lnTo>
                  <a:lnTo>
                    <a:pt x="55790" y="1911061"/>
                  </a:lnTo>
                  <a:lnTo>
                    <a:pt x="26754" y="1891485"/>
                  </a:lnTo>
                  <a:lnTo>
                    <a:pt x="7178" y="1862449"/>
                  </a:lnTo>
                  <a:lnTo>
                    <a:pt x="0" y="1826893"/>
                  </a:lnTo>
                  <a:lnTo>
                    <a:pt x="0" y="91346"/>
                  </a:lnTo>
                  <a:lnTo>
                    <a:pt x="7178" y="55790"/>
                  </a:lnTo>
                  <a:lnTo>
                    <a:pt x="26754" y="26754"/>
                  </a:lnTo>
                  <a:lnTo>
                    <a:pt x="55790" y="7178"/>
                  </a:lnTo>
                  <a:lnTo>
                    <a:pt x="91346" y="0"/>
                  </a:lnTo>
                  <a:lnTo>
                    <a:pt x="5160976" y="0"/>
                  </a:lnTo>
                  <a:lnTo>
                    <a:pt x="5211655" y="15347"/>
                  </a:lnTo>
                  <a:lnTo>
                    <a:pt x="5245369" y="56389"/>
                  </a:lnTo>
                  <a:lnTo>
                    <a:pt x="5252323" y="91346"/>
                  </a:lnTo>
                  <a:lnTo>
                    <a:pt x="5252323" y="1826893"/>
                  </a:lnTo>
                  <a:lnTo>
                    <a:pt x="5245144" y="1862449"/>
                  </a:lnTo>
                  <a:lnTo>
                    <a:pt x="5225568" y="1891485"/>
                  </a:lnTo>
                  <a:lnTo>
                    <a:pt x="5196532" y="1911061"/>
                  </a:lnTo>
                  <a:lnTo>
                    <a:pt x="5160976" y="1918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3447" y="420185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378" y="456723"/>
                  </a:moveTo>
                  <a:lnTo>
                    <a:pt x="91344" y="456723"/>
                  </a:lnTo>
                  <a:lnTo>
                    <a:pt x="55789" y="449545"/>
                  </a:lnTo>
                  <a:lnTo>
                    <a:pt x="26754" y="429969"/>
                  </a:lnTo>
                  <a:lnTo>
                    <a:pt x="7178" y="400934"/>
                  </a:lnTo>
                  <a:lnTo>
                    <a:pt x="0" y="365379"/>
                  </a:lnTo>
                  <a:lnTo>
                    <a:pt x="0" y="91344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4" y="0"/>
                  </a:lnTo>
                  <a:lnTo>
                    <a:pt x="365378" y="0"/>
                  </a:lnTo>
                  <a:lnTo>
                    <a:pt x="416057" y="15347"/>
                  </a:lnTo>
                  <a:lnTo>
                    <a:pt x="449770" y="56388"/>
                  </a:lnTo>
                  <a:lnTo>
                    <a:pt x="456723" y="91344"/>
                  </a:lnTo>
                  <a:lnTo>
                    <a:pt x="456723" y="365379"/>
                  </a:lnTo>
                  <a:lnTo>
                    <a:pt x="449545" y="400934"/>
                  </a:lnTo>
                  <a:lnTo>
                    <a:pt x="429969" y="429969"/>
                  </a:lnTo>
                  <a:lnTo>
                    <a:pt x="400934" y="449545"/>
                  </a:lnTo>
                  <a:lnTo>
                    <a:pt x="365378" y="456723"/>
                  </a:lnTo>
                  <a:close/>
                </a:path>
              </a:pathLst>
            </a:custGeom>
            <a:solidFill>
              <a:srgbClr val="202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72018" y="4281137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0747" y="4830157"/>
            <a:ext cx="3314700" cy="69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b="1" spc="-10" dirty="0">
                <a:solidFill>
                  <a:srgbClr val="20295C"/>
                </a:solidFill>
                <a:latin typeface="Calibri"/>
                <a:cs typeface="Calibri"/>
              </a:rPr>
              <a:t>Performance</a:t>
            </a:r>
            <a:r>
              <a:rPr sz="1450" b="1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20295C"/>
                </a:solidFill>
                <a:latin typeface="Calibri"/>
                <a:cs typeface="Calibri"/>
              </a:rPr>
              <a:t>Impact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Delayed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troubleshooting</a:t>
            </a:r>
            <a:r>
              <a:rPr sz="120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affects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overall</a:t>
            </a:r>
            <a:r>
              <a:rPr sz="120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performance.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80994" y="3877076"/>
            <a:ext cx="5405120" cy="2070735"/>
            <a:chOff x="6180994" y="3877076"/>
            <a:chExt cx="5405120" cy="207073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0994" y="3877076"/>
              <a:ext cx="5404564" cy="207048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57115" y="3927824"/>
              <a:ext cx="5252720" cy="1918335"/>
            </a:xfrm>
            <a:custGeom>
              <a:avLst/>
              <a:gdLst/>
              <a:ahLst/>
              <a:cxnLst/>
              <a:rect l="l" t="t" r="r" b="b"/>
              <a:pathLst>
                <a:path w="5252720" h="1918335">
                  <a:moveTo>
                    <a:pt x="5160977" y="1918240"/>
                  </a:moveTo>
                  <a:lnTo>
                    <a:pt x="91346" y="1918240"/>
                  </a:lnTo>
                  <a:lnTo>
                    <a:pt x="55790" y="1911061"/>
                  </a:lnTo>
                  <a:lnTo>
                    <a:pt x="26754" y="1891485"/>
                  </a:lnTo>
                  <a:lnTo>
                    <a:pt x="7178" y="1862449"/>
                  </a:lnTo>
                  <a:lnTo>
                    <a:pt x="0" y="1826893"/>
                  </a:lnTo>
                  <a:lnTo>
                    <a:pt x="0" y="91346"/>
                  </a:lnTo>
                  <a:lnTo>
                    <a:pt x="7178" y="55790"/>
                  </a:lnTo>
                  <a:lnTo>
                    <a:pt x="26754" y="26754"/>
                  </a:lnTo>
                  <a:lnTo>
                    <a:pt x="55790" y="7178"/>
                  </a:lnTo>
                  <a:lnTo>
                    <a:pt x="91346" y="0"/>
                  </a:lnTo>
                  <a:lnTo>
                    <a:pt x="5160977" y="0"/>
                  </a:lnTo>
                  <a:lnTo>
                    <a:pt x="5211655" y="15347"/>
                  </a:lnTo>
                  <a:lnTo>
                    <a:pt x="5245369" y="56389"/>
                  </a:lnTo>
                  <a:lnTo>
                    <a:pt x="5252323" y="91346"/>
                  </a:lnTo>
                  <a:lnTo>
                    <a:pt x="5252323" y="1826893"/>
                  </a:lnTo>
                  <a:lnTo>
                    <a:pt x="5245144" y="1862449"/>
                  </a:lnTo>
                  <a:lnTo>
                    <a:pt x="5225568" y="1891485"/>
                  </a:lnTo>
                  <a:lnTo>
                    <a:pt x="5196533" y="1911061"/>
                  </a:lnTo>
                  <a:lnTo>
                    <a:pt x="5160977" y="1918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531149" y="420185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65378" y="456723"/>
                  </a:moveTo>
                  <a:lnTo>
                    <a:pt x="91344" y="456723"/>
                  </a:lnTo>
                  <a:lnTo>
                    <a:pt x="55789" y="449545"/>
                  </a:lnTo>
                  <a:lnTo>
                    <a:pt x="26754" y="429969"/>
                  </a:lnTo>
                  <a:lnTo>
                    <a:pt x="7178" y="400934"/>
                  </a:lnTo>
                  <a:lnTo>
                    <a:pt x="0" y="365379"/>
                  </a:lnTo>
                  <a:lnTo>
                    <a:pt x="0" y="91344"/>
                  </a:lnTo>
                  <a:lnTo>
                    <a:pt x="7178" y="55789"/>
                  </a:lnTo>
                  <a:lnTo>
                    <a:pt x="26754" y="26754"/>
                  </a:lnTo>
                  <a:lnTo>
                    <a:pt x="55789" y="7178"/>
                  </a:lnTo>
                  <a:lnTo>
                    <a:pt x="91344" y="0"/>
                  </a:lnTo>
                  <a:lnTo>
                    <a:pt x="365378" y="0"/>
                  </a:lnTo>
                  <a:lnTo>
                    <a:pt x="416057" y="15347"/>
                  </a:lnTo>
                  <a:lnTo>
                    <a:pt x="449770" y="56388"/>
                  </a:lnTo>
                  <a:lnTo>
                    <a:pt x="456723" y="91344"/>
                  </a:lnTo>
                  <a:lnTo>
                    <a:pt x="456723" y="365379"/>
                  </a:lnTo>
                  <a:lnTo>
                    <a:pt x="449545" y="400934"/>
                  </a:lnTo>
                  <a:lnTo>
                    <a:pt x="429969" y="429969"/>
                  </a:lnTo>
                  <a:lnTo>
                    <a:pt x="400934" y="449545"/>
                  </a:lnTo>
                  <a:lnTo>
                    <a:pt x="365378" y="456723"/>
                  </a:lnTo>
                  <a:close/>
                </a:path>
              </a:pathLst>
            </a:custGeom>
            <a:solidFill>
              <a:srgbClr val="202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689721" y="4281137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9" name="object 29"/>
          <p:cNvSpPr txBox="1"/>
          <p:nvPr/>
        </p:nvSpPr>
        <p:spPr>
          <a:xfrm>
            <a:off x="6518449" y="4830157"/>
            <a:ext cx="120332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b="1" dirty="0">
                <a:solidFill>
                  <a:srgbClr val="20295C"/>
                </a:solidFill>
                <a:latin typeface="Calibri"/>
                <a:cs typeface="Calibri"/>
              </a:rPr>
              <a:t>No</a:t>
            </a:r>
            <a:r>
              <a:rPr sz="1450" b="1" spc="-10" dirty="0">
                <a:solidFill>
                  <a:srgbClr val="20295C"/>
                </a:solidFill>
                <a:latin typeface="Calibri"/>
                <a:cs typeface="Calibri"/>
              </a:rPr>
              <a:t> Automation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518449" y="5321643"/>
            <a:ext cx="32473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Lack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of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automated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diagnosis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B1F26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B1F26"/>
                </a:solidFill>
                <a:latin typeface="Calibri"/>
                <a:cs typeface="Calibri"/>
              </a:rPr>
              <a:t>recommendations.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57471" y="562010"/>
            <a:ext cx="298323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Aim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4" name="object 4"/>
          <p:cNvSpPr/>
          <p:nvPr/>
        </p:nvSpPr>
        <p:spPr>
          <a:xfrm>
            <a:off x="730758" y="1552860"/>
            <a:ext cx="10687685" cy="1005205"/>
          </a:xfrm>
          <a:custGeom>
            <a:avLst/>
            <a:gdLst/>
            <a:ahLst/>
            <a:cxnLst/>
            <a:rect l="l" t="t" r="r" b="b"/>
            <a:pathLst>
              <a:path w="10687685" h="1005205">
                <a:moveTo>
                  <a:pt x="10595990" y="1004792"/>
                </a:moveTo>
                <a:lnTo>
                  <a:pt x="91345" y="1004792"/>
                </a:lnTo>
                <a:lnTo>
                  <a:pt x="55789" y="997613"/>
                </a:lnTo>
                <a:lnTo>
                  <a:pt x="26754" y="978037"/>
                </a:lnTo>
                <a:lnTo>
                  <a:pt x="7178" y="949002"/>
                </a:lnTo>
                <a:lnTo>
                  <a:pt x="0" y="913446"/>
                </a:lnTo>
                <a:lnTo>
                  <a:pt x="0" y="91345"/>
                </a:lnTo>
                <a:lnTo>
                  <a:pt x="7178" y="55789"/>
                </a:lnTo>
                <a:lnTo>
                  <a:pt x="26754" y="26754"/>
                </a:lnTo>
                <a:lnTo>
                  <a:pt x="55789" y="7178"/>
                </a:lnTo>
                <a:lnTo>
                  <a:pt x="91345" y="0"/>
                </a:lnTo>
                <a:lnTo>
                  <a:pt x="10595990" y="0"/>
                </a:lnTo>
                <a:lnTo>
                  <a:pt x="10646668" y="15347"/>
                </a:lnTo>
                <a:lnTo>
                  <a:pt x="10680382" y="56389"/>
                </a:lnTo>
                <a:lnTo>
                  <a:pt x="10687335" y="91345"/>
                </a:lnTo>
                <a:lnTo>
                  <a:pt x="10687335" y="913446"/>
                </a:lnTo>
                <a:lnTo>
                  <a:pt x="10680157" y="949002"/>
                </a:lnTo>
                <a:lnTo>
                  <a:pt x="10660581" y="978037"/>
                </a:lnTo>
                <a:lnTo>
                  <a:pt x="10631545" y="997613"/>
                </a:lnTo>
                <a:lnTo>
                  <a:pt x="10595990" y="1004792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2092" y="1737122"/>
            <a:ext cx="7771130" cy="618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solidFill>
                  <a:srgbClr val="BEE1ED"/>
                </a:solidFill>
                <a:latin typeface="Calibri"/>
                <a:cs typeface="Calibri"/>
              </a:rPr>
              <a:t>AIM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intelligent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monitor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recommend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troubleshooting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solutions.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058" y="2924604"/>
            <a:ext cx="7683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5B6A74"/>
                </a:solidFill>
                <a:latin typeface="Calibri"/>
                <a:cs typeface="Calibri"/>
              </a:rPr>
              <a:t>OBJECTIVES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0758" y="3288410"/>
            <a:ext cx="5252720" cy="685165"/>
            <a:chOff x="730758" y="3288410"/>
            <a:chExt cx="5252720" cy="685165"/>
          </a:xfrm>
        </p:grpSpPr>
        <p:sp>
          <p:nvSpPr>
            <p:cNvPr id="8" name="object 8"/>
            <p:cNvSpPr/>
            <p:nvPr/>
          </p:nvSpPr>
          <p:spPr>
            <a:xfrm>
              <a:off x="730758" y="3288410"/>
              <a:ext cx="5252720" cy="685165"/>
            </a:xfrm>
            <a:custGeom>
              <a:avLst/>
              <a:gdLst/>
              <a:ahLst/>
              <a:cxnLst/>
              <a:rect l="l" t="t" r="r" b="b"/>
              <a:pathLst>
                <a:path w="5252720" h="685164">
                  <a:moveTo>
                    <a:pt x="5179244" y="685085"/>
                  </a:moveTo>
                  <a:lnTo>
                    <a:pt x="73078" y="685085"/>
                  </a:lnTo>
                  <a:lnTo>
                    <a:pt x="44632" y="679342"/>
                  </a:lnTo>
                  <a:lnTo>
                    <a:pt x="21404" y="663681"/>
                  </a:lnTo>
                  <a:lnTo>
                    <a:pt x="5742" y="640452"/>
                  </a:lnTo>
                  <a:lnTo>
                    <a:pt x="0" y="612007"/>
                  </a:lnTo>
                  <a:lnTo>
                    <a:pt x="0" y="73078"/>
                  </a:lnTo>
                  <a:lnTo>
                    <a:pt x="5742" y="44632"/>
                  </a:lnTo>
                  <a:lnTo>
                    <a:pt x="21404" y="21404"/>
                  </a:lnTo>
                  <a:lnTo>
                    <a:pt x="44632" y="5742"/>
                  </a:lnTo>
                  <a:lnTo>
                    <a:pt x="73078" y="0"/>
                  </a:lnTo>
                  <a:lnTo>
                    <a:pt x="5179244" y="0"/>
                  </a:lnTo>
                  <a:lnTo>
                    <a:pt x="5219788" y="12278"/>
                  </a:lnTo>
                  <a:lnTo>
                    <a:pt x="5246760" y="45112"/>
                  </a:lnTo>
                  <a:lnTo>
                    <a:pt x="5252323" y="73078"/>
                  </a:lnTo>
                  <a:lnTo>
                    <a:pt x="5252323" y="612007"/>
                  </a:lnTo>
                  <a:lnTo>
                    <a:pt x="5246580" y="640452"/>
                  </a:lnTo>
                  <a:lnTo>
                    <a:pt x="5230918" y="663681"/>
                  </a:lnTo>
                  <a:lnTo>
                    <a:pt x="5207690" y="679342"/>
                  </a:lnTo>
                  <a:lnTo>
                    <a:pt x="5179244" y="685085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119" y="3548743"/>
              <a:ext cx="164420" cy="16442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66126" y="3504072"/>
            <a:ext cx="215519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Monitor</a:t>
            </a:r>
            <a:r>
              <a:rPr sz="1350" spc="-6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350" spc="-6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performance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48460" y="3288410"/>
            <a:ext cx="5252720" cy="685165"/>
            <a:chOff x="6348460" y="3288410"/>
            <a:chExt cx="5252720" cy="685165"/>
          </a:xfrm>
        </p:grpSpPr>
        <p:sp>
          <p:nvSpPr>
            <p:cNvPr id="12" name="object 12"/>
            <p:cNvSpPr/>
            <p:nvPr/>
          </p:nvSpPr>
          <p:spPr>
            <a:xfrm>
              <a:off x="6348460" y="3288410"/>
              <a:ext cx="5252720" cy="685165"/>
            </a:xfrm>
            <a:custGeom>
              <a:avLst/>
              <a:gdLst/>
              <a:ahLst/>
              <a:cxnLst/>
              <a:rect l="l" t="t" r="r" b="b"/>
              <a:pathLst>
                <a:path w="5252720" h="685164">
                  <a:moveTo>
                    <a:pt x="5179245" y="685085"/>
                  </a:moveTo>
                  <a:lnTo>
                    <a:pt x="73078" y="685085"/>
                  </a:lnTo>
                  <a:lnTo>
                    <a:pt x="44632" y="679342"/>
                  </a:lnTo>
                  <a:lnTo>
                    <a:pt x="21404" y="663681"/>
                  </a:lnTo>
                  <a:lnTo>
                    <a:pt x="5742" y="640452"/>
                  </a:lnTo>
                  <a:lnTo>
                    <a:pt x="0" y="612007"/>
                  </a:lnTo>
                  <a:lnTo>
                    <a:pt x="0" y="73078"/>
                  </a:lnTo>
                  <a:lnTo>
                    <a:pt x="5742" y="44632"/>
                  </a:lnTo>
                  <a:lnTo>
                    <a:pt x="21404" y="21404"/>
                  </a:lnTo>
                  <a:lnTo>
                    <a:pt x="44632" y="5742"/>
                  </a:lnTo>
                  <a:lnTo>
                    <a:pt x="73078" y="0"/>
                  </a:lnTo>
                  <a:lnTo>
                    <a:pt x="5179245" y="0"/>
                  </a:lnTo>
                  <a:lnTo>
                    <a:pt x="5219788" y="12278"/>
                  </a:lnTo>
                  <a:lnTo>
                    <a:pt x="5246760" y="45112"/>
                  </a:lnTo>
                  <a:lnTo>
                    <a:pt x="5252322" y="73078"/>
                  </a:lnTo>
                  <a:lnTo>
                    <a:pt x="5252322" y="612007"/>
                  </a:lnTo>
                  <a:lnTo>
                    <a:pt x="5246579" y="640452"/>
                  </a:lnTo>
                  <a:lnTo>
                    <a:pt x="5230918" y="663681"/>
                  </a:lnTo>
                  <a:lnTo>
                    <a:pt x="5207690" y="679342"/>
                  </a:lnTo>
                  <a:lnTo>
                    <a:pt x="5179245" y="685085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6821" y="3548743"/>
              <a:ext cx="164420" cy="1644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83828" y="3504072"/>
            <a:ext cx="152781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Detect</a:t>
            </a:r>
            <a:r>
              <a:rPr sz="1350" spc="-6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350" spc="-6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faults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0758" y="4156185"/>
            <a:ext cx="5252720" cy="685165"/>
            <a:chOff x="730758" y="4156185"/>
            <a:chExt cx="5252720" cy="685165"/>
          </a:xfrm>
        </p:grpSpPr>
        <p:sp>
          <p:nvSpPr>
            <p:cNvPr id="16" name="object 16"/>
            <p:cNvSpPr/>
            <p:nvPr/>
          </p:nvSpPr>
          <p:spPr>
            <a:xfrm>
              <a:off x="730758" y="4156185"/>
              <a:ext cx="5252720" cy="685165"/>
            </a:xfrm>
            <a:custGeom>
              <a:avLst/>
              <a:gdLst/>
              <a:ahLst/>
              <a:cxnLst/>
              <a:rect l="l" t="t" r="r" b="b"/>
              <a:pathLst>
                <a:path w="5252720" h="685164">
                  <a:moveTo>
                    <a:pt x="5179244" y="685085"/>
                  </a:moveTo>
                  <a:lnTo>
                    <a:pt x="73078" y="685085"/>
                  </a:lnTo>
                  <a:lnTo>
                    <a:pt x="44632" y="679342"/>
                  </a:lnTo>
                  <a:lnTo>
                    <a:pt x="21404" y="663681"/>
                  </a:lnTo>
                  <a:lnTo>
                    <a:pt x="5742" y="640452"/>
                  </a:lnTo>
                  <a:lnTo>
                    <a:pt x="0" y="612007"/>
                  </a:lnTo>
                  <a:lnTo>
                    <a:pt x="0" y="73078"/>
                  </a:lnTo>
                  <a:lnTo>
                    <a:pt x="5742" y="44632"/>
                  </a:lnTo>
                  <a:lnTo>
                    <a:pt x="21404" y="21404"/>
                  </a:lnTo>
                  <a:lnTo>
                    <a:pt x="44632" y="5742"/>
                  </a:lnTo>
                  <a:lnTo>
                    <a:pt x="73078" y="0"/>
                  </a:lnTo>
                  <a:lnTo>
                    <a:pt x="5179244" y="0"/>
                  </a:lnTo>
                  <a:lnTo>
                    <a:pt x="5219788" y="12278"/>
                  </a:lnTo>
                  <a:lnTo>
                    <a:pt x="5246760" y="45112"/>
                  </a:lnTo>
                  <a:lnTo>
                    <a:pt x="5252323" y="73078"/>
                  </a:lnTo>
                  <a:lnTo>
                    <a:pt x="5252323" y="612007"/>
                  </a:lnTo>
                  <a:lnTo>
                    <a:pt x="5246580" y="640452"/>
                  </a:lnTo>
                  <a:lnTo>
                    <a:pt x="5230918" y="663681"/>
                  </a:lnTo>
                  <a:lnTo>
                    <a:pt x="5207690" y="679342"/>
                  </a:lnTo>
                  <a:lnTo>
                    <a:pt x="5179244" y="685085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9119" y="4416518"/>
              <a:ext cx="164420" cy="1644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66126" y="4371847"/>
            <a:ext cx="173863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Diagnose</a:t>
            </a:r>
            <a:r>
              <a:rPr sz="1350" spc="-6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350" spc="-6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issues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48460" y="4156185"/>
            <a:ext cx="5252720" cy="685165"/>
            <a:chOff x="6348460" y="4156185"/>
            <a:chExt cx="5252720" cy="685165"/>
          </a:xfrm>
        </p:grpSpPr>
        <p:sp>
          <p:nvSpPr>
            <p:cNvPr id="20" name="object 20"/>
            <p:cNvSpPr/>
            <p:nvPr/>
          </p:nvSpPr>
          <p:spPr>
            <a:xfrm>
              <a:off x="6348460" y="4156185"/>
              <a:ext cx="5252720" cy="685165"/>
            </a:xfrm>
            <a:custGeom>
              <a:avLst/>
              <a:gdLst/>
              <a:ahLst/>
              <a:cxnLst/>
              <a:rect l="l" t="t" r="r" b="b"/>
              <a:pathLst>
                <a:path w="5252720" h="685164">
                  <a:moveTo>
                    <a:pt x="5179245" y="685085"/>
                  </a:moveTo>
                  <a:lnTo>
                    <a:pt x="73078" y="685085"/>
                  </a:lnTo>
                  <a:lnTo>
                    <a:pt x="44632" y="679342"/>
                  </a:lnTo>
                  <a:lnTo>
                    <a:pt x="21404" y="663681"/>
                  </a:lnTo>
                  <a:lnTo>
                    <a:pt x="5742" y="640452"/>
                  </a:lnTo>
                  <a:lnTo>
                    <a:pt x="0" y="612007"/>
                  </a:lnTo>
                  <a:lnTo>
                    <a:pt x="0" y="73078"/>
                  </a:lnTo>
                  <a:lnTo>
                    <a:pt x="5742" y="44632"/>
                  </a:lnTo>
                  <a:lnTo>
                    <a:pt x="21404" y="21404"/>
                  </a:lnTo>
                  <a:lnTo>
                    <a:pt x="44632" y="5742"/>
                  </a:lnTo>
                  <a:lnTo>
                    <a:pt x="73078" y="0"/>
                  </a:lnTo>
                  <a:lnTo>
                    <a:pt x="5179245" y="0"/>
                  </a:lnTo>
                  <a:lnTo>
                    <a:pt x="5219788" y="12278"/>
                  </a:lnTo>
                  <a:lnTo>
                    <a:pt x="5246760" y="45112"/>
                  </a:lnTo>
                  <a:lnTo>
                    <a:pt x="5252322" y="73078"/>
                  </a:lnTo>
                  <a:lnTo>
                    <a:pt x="5252322" y="612007"/>
                  </a:lnTo>
                  <a:lnTo>
                    <a:pt x="5246579" y="640452"/>
                  </a:lnTo>
                  <a:lnTo>
                    <a:pt x="5230918" y="663681"/>
                  </a:lnTo>
                  <a:lnTo>
                    <a:pt x="5207690" y="679342"/>
                  </a:lnTo>
                  <a:lnTo>
                    <a:pt x="5179245" y="685085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6821" y="4416518"/>
              <a:ext cx="164420" cy="16442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883828" y="4371847"/>
            <a:ext cx="272288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Recommend</a:t>
            </a:r>
            <a:r>
              <a:rPr sz="1350" spc="-1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troubleshooting</a:t>
            </a:r>
            <a:r>
              <a:rPr sz="1350" spc="-1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solutions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0758" y="5023961"/>
            <a:ext cx="5252720" cy="685165"/>
            <a:chOff x="730758" y="5023961"/>
            <a:chExt cx="5252720" cy="685165"/>
          </a:xfrm>
        </p:grpSpPr>
        <p:sp>
          <p:nvSpPr>
            <p:cNvPr id="24" name="object 24"/>
            <p:cNvSpPr/>
            <p:nvPr/>
          </p:nvSpPr>
          <p:spPr>
            <a:xfrm>
              <a:off x="730758" y="5023961"/>
              <a:ext cx="5252720" cy="685165"/>
            </a:xfrm>
            <a:custGeom>
              <a:avLst/>
              <a:gdLst/>
              <a:ahLst/>
              <a:cxnLst/>
              <a:rect l="l" t="t" r="r" b="b"/>
              <a:pathLst>
                <a:path w="5252720" h="685164">
                  <a:moveTo>
                    <a:pt x="5179244" y="685085"/>
                  </a:moveTo>
                  <a:lnTo>
                    <a:pt x="73078" y="685085"/>
                  </a:lnTo>
                  <a:lnTo>
                    <a:pt x="44632" y="679342"/>
                  </a:lnTo>
                  <a:lnTo>
                    <a:pt x="21404" y="663681"/>
                  </a:lnTo>
                  <a:lnTo>
                    <a:pt x="5742" y="640452"/>
                  </a:lnTo>
                  <a:lnTo>
                    <a:pt x="0" y="612007"/>
                  </a:lnTo>
                  <a:lnTo>
                    <a:pt x="0" y="73078"/>
                  </a:lnTo>
                  <a:lnTo>
                    <a:pt x="5742" y="44632"/>
                  </a:lnTo>
                  <a:lnTo>
                    <a:pt x="21404" y="21404"/>
                  </a:lnTo>
                  <a:lnTo>
                    <a:pt x="44632" y="5742"/>
                  </a:lnTo>
                  <a:lnTo>
                    <a:pt x="73078" y="0"/>
                  </a:lnTo>
                  <a:lnTo>
                    <a:pt x="5179244" y="0"/>
                  </a:lnTo>
                  <a:lnTo>
                    <a:pt x="5219788" y="12278"/>
                  </a:lnTo>
                  <a:lnTo>
                    <a:pt x="5246760" y="45112"/>
                  </a:lnTo>
                  <a:lnTo>
                    <a:pt x="5252323" y="73078"/>
                  </a:lnTo>
                  <a:lnTo>
                    <a:pt x="5252323" y="612007"/>
                  </a:lnTo>
                  <a:lnTo>
                    <a:pt x="5246580" y="640452"/>
                  </a:lnTo>
                  <a:lnTo>
                    <a:pt x="5230918" y="663681"/>
                  </a:lnTo>
                  <a:lnTo>
                    <a:pt x="5207690" y="679342"/>
                  </a:lnTo>
                  <a:lnTo>
                    <a:pt x="5179244" y="685085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9119" y="5284293"/>
              <a:ext cx="164420" cy="16442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66126" y="5239623"/>
            <a:ext cx="231902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Generate</a:t>
            </a:r>
            <a:r>
              <a:rPr sz="1350" spc="-6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350" spc="-5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B1F26"/>
                </a:solidFill>
                <a:latin typeface="Calibri"/>
                <a:cs typeface="Calibri"/>
              </a:rPr>
              <a:t>health</a:t>
            </a:r>
            <a:r>
              <a:rPr sz="1350" spc="-5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B1F26"/>
                </a:solidFill>
                <a:latin typeface="Calibri"/>
                <a:cs typeface="Calibri"/>
              </a:rPr>
              <a:t>reports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1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068" y="502396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639444" h="639444">
                <a:moveTo>
                  <a:pt x="319706" y="639413"/>
                </a:moveTo>
                <a:lnTo>
                  <a:pt x="272462" y="635946"/>
                </a:lnTo>
                <a:lnTo>
                  <a:pt x="227371" y="625877"/>
                </a:lnTo>
                <a:lnTo>
                  <a:pt x="184926" y="609698"/>
                </a:lnTo>
                <a:lnTo>
                  <a:pt x="145623" y="587906"/>
                </a:lnTo>
                <a:lnTo>
                  <a:pt x="109955" y="560994"/>
                </a:lnTo>
                <a:lnTo>
                  <a:pt x="78418" y="529457"/>
                </a:lnTo>
                <a:lnTo>
                  <a:pt x="51506" y="493790"/>
                </a:lnTo>
                <a:lnTo>
                  <a:pt x="29714" y="454486"/>
                </a:lnTo>
                <a:lnTo>
                  <a:pt x="13536" y="412042"/>
                </a:lnTo>
                <a:lnTo>
                  <a:pt x="3466" y="366950"/>
                </a:lnTo>
                <a:lnTo>
                  <a:pt x="0" y="319706"/>
                </a:lnTo>
                <a:lnTo>
                  <a:pt x="3466" y="272462"/>
                </a:lnTo>
                <a:lnTo>
                  <a:pt x="13536" y="227371"/>
                </a:lnTo>
                <a:lnTo>
                  <a:pt x="29714" y="184926"/>
                </a:lnTo>
                <a:lnTo>
                  <a:pt x="51506" y="145622"/>
                </a:lnTo>
                <a:lnTo>
                  <a:pt x="78418" y="109955"/>
                </a:lnTo>
                <a:lnTo>
                  <a:pt x="109955" y="78418"/>
                </a:lnTo>
                <a:lnTo>
                  <a:pt x="145623" y="51506"/>
                </a:lnTo>
                <a:lnTo>
                  <a:pt x="184926" y="29714"/>
                </a:lnTo>
                <a:lnTo>
                  <a:pt x="227371" y="13536"/>
                </a:lnTo>
                <a:lnTo>
                  <a:pt x="272462" y="3466"/>
                </a:lnTo>
                <a:lnTo>
                  <a:pt x="319706" y="0"/>
                </a:lnTo>
                <a:lnTo>
                  <a:pt x="370021" y="3982"/>
                </a:lnTo>
                <a:lnTo>
                  <a:pt x="418644" y="15693"/>
                </a:lnTo>
                <a:lnTo>
                  <a:pt x="464716" y="34777"/>
                </a:lnTo>
                <a:lnTo>
                  <a:pt x="507379" y="60877"/>
                </a:lnTo>
                <a:lnTo>
                  <a:pt x="545773" y="93639"/>
                </a:lnTo>
                <a:lnTo>
                  <a:pt x="578535" y="132034"/>
                </a:lnTo>
                <a:lnTo>
                  <a:pt x="604635" y="174696"/>
                </a:lnTo>
                <a:lnTo>
                  <a:pt x="623719" y="220768"/>
                </a:lnTo>
                <a:lnTo>
                  <a:pt x="635430" y="269391"/>
                </a:lnTo>
                <a:lnTo>
                  <a:pt x="639413" y="319706"/>
                </a:lnTo>
                <a:lnTo>
                  <a:pt x="635946" y="366950"/>
                </a:lnTo>
                <a:lnTo>
                  <a:pt x="625877" y="412042"/>
                </a:lnTo>
                <a:lnTo>
                  <a:pt x="609698" y="454486"/>
                </a:lnTo>
                <a:lnTo>
                  <a:pt x="587906" y="493790"/>
                </a:lnTo>
                <a:lnTo>
                  <a:pt x="560994" y="529457"/>
                </a:lnTo>
                <a:lnTo>
                  <a:pt x="529457" y="560994"/>
                </a:lnTo>
                <a:lnTo>
                  <a:pt x="493790" y="587906"/>
                </a:lnTo>
                <a:lnTo>
                  <a:pt x="454486" y="609698"/>
                </a:lnTo>
                <a:lnTo>
                  <a:pt x="412042" y="625877"/>
                </a:lnTo>
                <a:lnTo>
                  <a:pt x="366950" y="635946"/>
                </a:lnTo>
                <a:lnTo>
                  <a:pt x="319706" y="639413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57471" y="562010"/>
            <a:ext cx="301117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125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63292" y="1684802"/>
            <a:ext cx="3578225" cy="2116455"/>
            <a:chOff x="563292" y="1684802"/>
            <a:chExt cx="3578225" cy="21164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292" y="1684802"/>
              <a:ext cx="3577669" cy="21161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9413" y="1735550"/>
              <a:ext cx="3425825" cy="1964055"/>
            </a:xfrm>
            <a:custGeom>
              <a:avLst/>
              <a:gdLst/>
              <a:ahLst/>
              <a:cxnLst/>
              <a:rect l="l" t="t" r="r" b="b"/>
              <a:pathLst>
                <a:path w="3425825" h="1964054">
                  <a:moveTo>
                    <a:pt x="3334086" y="1963912"/>
                  </a:moveTo>
                  <a:lnTo>
                    <a:pt x="91341" y="1963912"/>
                  </a:lnTo>
                  <a:lnTo>
                    <a:pt x="55787" y="1956734"/>
                  </a:lnTo>
                  <a:lnTo>
                    <a:pt x="26753" y="1937158"/>
                  </a:lnTo>
                  <a:lnTo>
                    <a:pt x="7178" y="1908124"/>
                  </a:lnTo>
                  <a:lnTo>
                    <a:pt x="0" y="1872570"/>
                  </a:lnTo>
                  <a:lnTo>
                    <a:pt x="0" y="91341"/>
                  </a:lnTo>
                  <a:lnTo>
                    <a:pt x="7178" y="55787"/>
                  </a:lnTo>
                  <a:lnTo>
                    <a:pt x="26753" y="26753"/>
                  </a:lnTo>
                  <a:lnTo>
                    <a:pt x="55787" y="7178"/>
                  </a:lnTo>
                  <a:lnTo>
                    <a:pt x="91341" y="0"/>
                  </a:lnTo>
                  <a:lnTo>
                    <a:pt x="3334086" y="0"/>
                  </a:lnTo>
                  <a:lnTo>
                    <a:pt x="3384762" y="15346"/>
                  </a:lnTo>
                  <a:lnTo>
                    <a:pt x="3418475" y="56386"/>
                  </a:lnTo>
                  <a:lnTo>
                    <a:pt x="3425428" y="91341"/>
                  </a:lnTo>
                  <a:lnTo>
                    <a:pt x="3425428" y="1872570"/>
                  </a:lnTo>
                  <a:lnTo>
                    <a:pt x="3418250" y="1908124"/>
                  </a:lnTo>
                  <a:lnTo>
                    <a:pt x="3398674" y="1937158"/>
                  </a:lnTo>
                  <a:lnTo>
                    <a:pt x="3369640" y="1956734"/>
                  </a:lnTo>
                  <a:lnTo>
                    <a:pt x="3334086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13447" y="20095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361" y="456723"/>
                  </a:moveTo>
                  <a:lnTo>
                    <a:pt x="182339" y="452084"/>
                  </a:lnTo>
                  <a:lnTo>
                    <a:pt x="139473" y="438777"/>
                  </a:lnTo>
                  <a:lnTo>
                    <a:pt x="100682" y="417723"/>
                  </a:lnTo>
                  <a:lnTo>
                    <a:pt x="66885" y="389838"/>
                  </a:lnTo>
                  <a:lnTo>
                    <a:pt x="39000" y="356041"/>
                  </a:lnTo>
                  <a:lnTo>
                    <a:pt x="17945" y="317250"/>
                  </a:lnTo>
                  <a:lnTo>
                    <a:pt x="4639" y="274384"/>
                  </a:lnTo>
                  <a:lnTo>
                    <a:pt x="0" y="228361"/>
                  </a:lnTo>
                  <a:lnTo>
                    <a:pt x="4639" y="182338"/>
                  </a:lnTo>
                  <a:lnTo>
                    <a:pt x="17945" y="139473"/>
                  </a:lnTo>
                  <a:lnTo>
                    <a:pt x="39000" y="100682"/>
                  </a:lnTo>
                  <a:lnTo>
                    <a:pt x="66885" y="66885"/>
                  </a:lnTo>
                  <a:lnTo>
                    <a:pt x="100682" y="39000"/>
                  </a:lnTo>
                  <a:lnTo>
                    <a:pt x="139473" y="17945"/>
                  </a:lnTo>
                  <a:lnTo>
                    <a:pt x="182339" y="4639"/>
                  </a:lnTo>
                  <a:lnTo>
                    <a:pt x="228361" y="0"/>
                  </a:lnTo>
                  <a:lnTo>
                    <a:pt x="273121" y="4428"/>
                  </a:lnTo>
                  <a:lnTo>
                    <a:pt x="315752" y="17382"/>
                  </a:lnTo>
                  <a:lnTo>
                    <a:pt x="355057" y="38367"/>
                  </a:lnTo>
                  <a:lnTo>
                    <a:pt x="389838" y="66885"/>
                  </a:lnTo>
                  <a:lnTo>
                    <a:pt x="418356" y="101666"/>
                  </a:lnTo>
                  <a:lnTo>
                    <a:pt x="439340" y="140971"/>
                  </a:lnTo>
                  <a:lnTo>
                    <a:pt x="452295" y="183602"/>
                  </a:lnTo>
                  <a:lnTo>
                    <a:pt x="456723" y="228361"/>
                  </a:lnTo>
                  <a:lnTo>
                    <a:pt x="452084" y="274384"/>
                  </a:lnTo>
                  <a:lnTo>
                    <a:pt x="438777" y="317250"/>
                  </a:lnTo>
                  <a:lnTo>
                    <a:pt x="417723" y="356041"/>
                  </a:lnTo>
                  <a:lnTo>
                    <a:pt x="389838" y="389838"/>
                  </a:lnTo>
                  <a:lnTo>
                    <a:pt x="356041" y="417723"/>
                  </a:lnTo>
                  <a:lnTo>
                    <a:pt x="317250" y="438777"/>
                  </a:lnTo>
                  <a:lnTo>
                    <a:pt x="274384" y="452084"/>
                  </a:lnTo>
                  <a:lnTo>
                    <a:pt x="228361" y="456723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72018" y="2088863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0747" y="2681970"/>
            <a:ext cx="157734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20" dirty="0">
                <a:solidFill>
                  <a:srgbClr val="20295C"/>
                </a:solidFill>
                <a:latin typeface="Calibri"/>
                <a:cs typeface="Calibri"/>
              </a:rPr>
              <a:t>Real-</a:t>
            </a:r>
            <a:r>
              <a:rPr sz="1350" b="1" dirty="0">
                <a:solidFill>
                  <a:srgbClr val="20295C"/>
                </a:solidFill>
                <a:latin typeface="Calibri"/>
                <a:cs typeface="Calibri"/>
              </a:rPr>
              <a:t>Time</a:t>
            </a:r>
            <a:r>
              <a:rPr sz="1350" b="1" spc="5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0295C"/>
                </a:solidFill>
                <a:latin typeface="Calibri"/>
                <a:cs typeface="Calibri"/>
              </a:rPr>
              <a:t>Monitoring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0747" y="3195467"/>
            <a:ext cx="230124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Continuous</a:t>
            </a:r>
            <a:r>
              <a:rPr sz="11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tracking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of</a:t>
            </a:r>
            <a:r>
              <a:rPr sz="11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health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62754" y="1684802"/>
            <a:ext cx="3578225" cy="2116455"/>
            <a:chOff x="4262754" y="1684802"/>
            <a:chExt cx="3578225" cy="211645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2754" y="1684802"/>
              <a:ext cx="3577669" cy="211615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38875" y="1735550"/>
              <a:ext cx="3425825" cy="1964055"/>
            </a:xfrm>
            <a:custGeom>
              <a:avLst/>
              <a:gdLst/>
              <a:ahLst/>
              <a:cxnLst/>
              <a:rect l="l" t="t" r="r" b="b"/>
              <a:pathLst>
                <a:path w="3425825" h="1964054">
                  <a:moveTo>
                    <a:pt x="3334086" y="1963912"/>
                  </a:moveTo>
                  <a:lnTo>
                    <a:pt x="91341" y="1963912"/>
                  </a:lnTo>
                  <a:lnTo>
                    <a:pt x="55787" y="1956734"/>
                  </a:lnTo>
                  <a:lnTo>
                    <a:pt x="26753" y="1937158"/>
                  </a:lnTo>
                  <a:lnTo>
                    <a:pt x="7178" y="1908124"/>
                  </a:lnTo>
                  <a:lnTo>
                    <a:pt x="0" y="1872570"/>
                  </a:lnTo>
                  <a:lnTo>
                    <a:pt x="0" y="91341"/>
                  </a:lnTo>
                  <a:lnTo>
                    <a:pt x="7178" y="55787"/>
                  </a:lnTo>
                  <a:lnTo>
                    <a:pt x="26753" y="26753"/>
                  </a:lnTo>
                  <a:lnTo>
                    <a:pt x="55787" y="7178"/>
                  </a:lnTo>
                  <a:lnTo>
                    <a:pt x="91341" y="0"/>
                  </a:lnTo>
                  <a:lnTo>
                    <a:pt x="3334086" y="0"/>
                  </a:lnTo>
                  <a:lnTo>
                    <a:pt x="3384762" y="15346"/>
                  </a:lnTo>
                  <a:lnTo>
                    <a:pt x="3418475" y="56386"/>
                  </a:lnTo>
                  <a:lnTo>
                    <a:pt x="3425428" y="91341"/>
                  </a:lnTo>
                  <a:lnTo>
                    <a:pt x="3425428" y="1872570"/>
                  </a:lnTo>
                  <a:lnTo>
                    <a:pt x="3418250" y="1908124"/>
                  </a:lnTo>
                  <a:lnTo>
                    <a:pt x="3398674" y="1937158"/>
                  </a:lnTo>
                  <a:lnTo>
                    <a:pt x="3369640" y="1956734"/>
                  </a:lnTo>
                  <a:lnTo>
                    <a:pt x="3334086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12909" y="20095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361" y="456723"/>
                  </a:moveTo>
                  <a:lnTo>
                    <a:pt x="182338" y="452084"/>
                  </a:lnTo>
                  <a:lnTo>
                    <a:pt x="139473" y="438777"/>
                  </a:lnTo>
                  <a:lnTo>
                    <a:pt x="100682" y="417723"/>
                  </a:lnTo>
                  <a:lnTo>
                    <a:pt x="66885" y="389838"/>
                  </a:lnTo>
                  <a:lnTo>
                    <a:pt x="39000" y="356041"/>
                  </a:lnTo>
                  <a:lnTo>
                    <a:pt x="17945" y="317250"/>
                  </a:lnTo>
                  <a:lnTo>
                    <a:pt x="4639" y="274384"/>
                  </a:lnTo>
                  <a:lnTo>
                    <a:pt x="0" y="228361"/>
                  </a:lnTo>
                  <a:lnTo>
                    <a:pt x="4639" y="182338"/>
                  </a:lnTo>
                  <a:lnTo>
                    <a:pt x="17945" y="139473"/>
                  </a:lnTo>
                  <a:lnTo>
                    <a:pt x="39000" y="100682"/>
                  </a:lnTo>
                  <a:lnTo>
                    <a:pt x="66885" y="66885"/>
                  </a:lnTo>
                  <a:lnTo>
                    <a:pt x="100682" y="39000"/>
                  </a:lnTo>
                  <a:lnTo>
                    <a:pt x="139473" y="17945"/>
                  </a:lnTo>
                  <a:lnTo>
                    <a:pt x="182338" y="4639"/>
                  </a:lnTo>
                  <a:lnTo>
                    <a:pt x="228361" y="0"/>
                  </a:lnTo>
                  <a:lnTo>
                    <a:pt x="273121" y="4428"/>
                  </a:lnTo>
                  <a:lnTo>
                    <a:pt x="315752" y="17382"/>
                  </a:lnTo>
                  <a:lnTo>
                    <a:pt x="355057" y="38367"/>
                  </a:lnTo>
                  <a:lnTo>
                    <a:pt x="389837" y="66885"/>
                  </a:lnTo>
                  <a:lnTo>
                    <a:pt x="418356" y="101666"/>
                  </a:lnTo>
                  <a:lnTo>
                    <a:pt x="439340" y="140971"/>
                  </a:lnTo>
                  <a:lnTo>
                    <a:pt x="452295" y="183602"/>
                  </a:lnTo>
                  <a:lnTo>
                    <a:pt x="456723" y="228361"/>
                  </a:lnTo>
                  <a:lnTo>
                    <a:pt x="452084" y="274384"/>
                  </a:lnTo>
                  <a:lnTo>
                    <a:pt x="438777" y="317250"/>
                  </a:lnTo>
                  <a:lnTo>
                    <a:pt x="417723" y="356041"/>
                  </a:lnTo>
                  <a:lnTo>
                    <a:pt x="389838" y="389838"/>
                  </a:lnTo>
                  <a:lnTo>
                    <a:pt x="356041" y="417723"/>
                  </a:lnTo>
                  <a:lnTo>
                    <a:pt x="317250" y="438777"/>
                  </a:lnTo>
                  <a:lnTo>
                    <a:pt x="274384" y="452084"/>
                  </a:lnTo>
                  <a:lnTo>
                    <a:pt x="228361" y="456723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71481" y="2088863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00209" y="2681970"/>
            <a:ext cx="146367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10" dirty="0">
                <a:solidFill>
                  <a:srgbClr val="20295C"/>
                </a:solidFill>
                <a:latin typeface="Calibri"/>
                <a:cs typeface="Calibri"/>
              </a:rPr>
              <a:t>Intelligent</a:t>
            </a:r>
            <a:r>
              <a:rPr sz="1350" b="1" spc="-20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0295C"/>
                </a:solidFill>
                <a:latin typeface="Calibri"/>
                <a:cs typeface="Calibri"/>
              </a:rPr>
              <a:t>Diagnosis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00209" y="3195467"/>
            <a:ext cx="1812289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Automated</a:t>
            </a:r>
            <a:r>
              <a:rPr sz="115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fault</a:t>
            </a:r>
            <a:r>
              <a:rPr sz="115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identification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62217" y="1684802"/>
            <a:ext cx="3578225" cy="2116455"/>
            <a:chOff x="7962217" y="1684802"/>
            <a:chExt cx="3578225" cy="211645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62217" y="1684802"/>
              <a:ext cx="3577669" cy="211615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038338" y="1735550"/>
              <a:ext cx="3425825" cy="1964055"/>
            </a:xfrm>
            <a:custGeom>
              <a:avLst/>
              <a:gdLst/>
              <a:ahLst/>
              <a:cxnLst/>
              <a:rect l="l" t="t" r="r" b="b"/>
              <a:pathLst>
                <a:path w="3425825" h="1964054">
                  <a:moveTo>
                    <a:pt x="3334085" y="1963912"/>
                  </a:moveTo>
                  <a:lnTo>
                    <a:pt x="91341" y="1963912"/>
                  </a:lnTo>
                  <a:lnTo>
                    <a:pt x="55787" y="1956734"/>
                  </a:lnTo>
                  <a:lnTo>
                    <a:pt x="26753" y="1937158"/>
                  </a:lnTo>
                  <a:lnTo>
                    <a:pt x="7178" y="1908124"/>
                  </a:lnTo>
                  <a:lnTo>
                    <a:pt x="0" y="1872570"/>
                  </a:lnTo>
                  <a:lnTo>
                    <a:pt x="0" y="91341"/>
                  </a:lnTo>
                  <a:lnTo>
                    <a:pt x="7178" y="55787"/>
                  </a:lnTo>
                  <a:lnTo>
                    <a:pt x="26753" y="26753"/>
                  </a:lnTo>
                  <a:lnTo>
                    <a:pt x="55787" y="7178"/>
                  </a:lnTo>
                  <a:lnTo>
                    <a:pt x="91341" y="0"/>
                  </a:lnTo>
                  <a:lnTo>
                    <a:pt x="3334085" y="0"/>
                  </a:lnTo>
                  <a:lnTo>
                    <a:pt x="3384762" y="15346"/>
                  </a:lnTo>
                  <a:lnTo>
                    <a:pt x="3418475" y="56386"/>
                  </a:lnTo>
                  <a:lnTo>
                    <a:pt x="3425428" y="91341"/>
                  </a:lnTo>
                  <a:lnTo>
                    <a:pt x="3425428" y="1872570"/>
                  </a:lnTo>
                  <a:lnTo>
                    <a:pt x="3418249" y="1908124"/>
                  </a:lnTo>
                  <a:lnTo>
                    <a:pt x="3398674" y="1937158"/>
                  </a:lnTo>
                  <a:lnTo>
                    <a:pt x="3369640" y="1956734"/>
                  </a:lnTo>
                  <a:lnTo>
                    <a:pt x="3334085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12371" y="200958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361" y="456723"/>
                  </a:moveTo>
                  <a:lnTo>
                    <a:pt x="182339" y="452084"/>
                  </a:lnTo>
                  <a:lnTo>
                    <a:pt x="139473" y="438777"/>
                  </a:lnTo>
                  <a:lnTo>
                    <a:pt x="100682" y="417723"/>
                  </a:lnTo>
                  <a:lnTo>
                    <a:pt x="66885" y="389838"/>
                  </a:lnTo>
                  <a:lnTo>
                    <a:pt x="39000" y="356041"/>
                  </a:lnTo>
                  <a:lnTo>
                    <a:pt x="17945" y="317250"/>
                  </a:lnTo>
                  <a:lnTo>
                    <a:pt x="4639" y="274384"/>
                  </a:lnTo>
                  <a:lnTo>
                    <a:pt x="0" y="228361"/>
                  </a:lnTo>
                  <a:lnTo>
                    <a:pt x="4639" y="182338"/>
                  </a:lnTo>
                  <a:lnTo>
                    <a:pt x="17945" y="139473"/>
                  </a:lnTo>
                  <a:lnTo>
                    <a:pt x="39000" y="100682"/>
                  </a:lnTo>
                  <a:lnTo>
                    <a:pt x="66885" y="66885"/>
                  </a:lnTo>
                  <a:lnTo>
                    <a:pt x="100682" y="39000"/>
                  </a:lnTo>
                  <a:lnTo>
                    <a:pt x="139473" y="17945"/>
                  </a:lnTo>
                  <a:lnTo>
                    <a:pt x="182339" y="4639"/>
                  </a:lnTo>
                  <a:lnTo>
                    <a:pt x="228361" y="0"/>
                  </a:lnTo>
                  <a:lnTo>
                    <a:pt x="273121" y="4428"/>
                  </a:lnTo>
                  <a:lnTo>
                    <a:pt x="315752" y="17382"/>
                  </a:lnTo>
                  <a:lnTo>
                    <a:pt x="355057" y="38367"/>
                  </a:lnTo>
                  <a:lnTo>
                    <a:pt x="389838" y="66885"/>
                  </a:lnTo>
                  <a:lnTo>
                    <a:pt x="418356" y="101666"/>
                  </a:lnTo>
                  <a:lnTo>
                    <a:pt x="439340" y="140971"/>
                  </a:lnTo>
                  <a:lnTo>
                    <a:pt x="452295" y="183602"/>
                  </a:lnTo>
                  <a:lnTo>
                    <a:pt x="456723" y="228361"/>
                  </a:lnTo>
                  <a:lnTo>
                    <a:pt x="452084" y="274384"/>
                  </a:lnTo>
                  <a:lnTo>
                    <a:pt x="438777" y="317250"/>
                  </a:lnTo>
                  <a:lnTo>
                    <a:pt x="417723" y="356041"/>
                  </a:lnTo>
                  <a:lnTo>
                    <a:pt x="389838" y="389838"/>
                  </a:lnTo>
                  <a:lnTo>
                    <a:pt x="356041" y="417723"/>
                  </a:lnTo>
                  <a:lnTo>
                    <a:pt x="317250" y="438777"/>
                  </a:lnTo>
                  <a:lnTo>
                    <a:pt x="274384" y="452084"/>
                  </a:lnTo>
                  <a:lnTo>
                    <a:pt x="228361" y="456723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70944" y="2088863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99671" y="2681970"/>
            <a:ext cx="173799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dirty="0">
                <a:solidFill>
                  <a:srgbClr val="20295C"/>
                </a:solidFill>
                <a:latin typeface="Calibri"/>
                <a:cs typeface="Calibri"/>
              </a:rPr>
              <a:t>Auto</a:t>
            </a:r>
            <a:r>
              <a:rPr sz="1350" b="1" spc="-35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0295C"/>
                </a:solidFill>
                <a:latin typeface="Calibri"/>
                <a:cs typeface="Calibri"/>
              </a:rPr>
              <a:t>Recommendations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99671" y="3195467"/>
            <a:ext cx="195453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Suggested</a:t>
            </a:r>
            <a:r>
              <a:rPr sz="1150" spc="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troubleshooting</a:t>
            </a:r>
            <a:r>
              <a:rPr sz="1150" spc="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steps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3292" y="3922749"/>
            <a:ext cx="3578225" cy="2116455"/>
            <a:chOff x="563292" y="3922749"/>
            <a:chExt cx="3578225" cy="211645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292" y="3922749"/>
              <a:ext cx="3577669" cy="211615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39413" y="3973496"/>
              <a:ext cx="3425825" cy="1964055"/>
            </a:xfrm>
            <a:custGeom>
              <a:avLst/>
              <a:gdLst/>
              <a:ahLst/>
              <a:cxnLst/>
              <a:rect l="l" t="t" r="r" b="b"/>
              <a:pathLst>
                <a:path w="3425825" h="1964054">
                  <a:moveTo>
                    <a:pt x="3334086" y="1963912"/>
                  </a:moveTo>
                  <a:lnTo>
                    <a:pt x="91341" y="1963912"/>
                  </a:lnTo>
                  <a:lnTo>
                    <a:pt x="55787" y="1956734"/>
                  </a:lnTo>
                  <a:lnTo>
                    <a:pt x="26753" y="1937158"/>
                  </a:lnTo>
                  <a:lnTo>
                    <a:pt x="7178" y="1908125"/>
                  </a:lnTo>
                  <a:lnTo>
                    <a:pt x="0" y="1872570"/>
                  </a:lnTo>
                  <a:lnTo>
                    <a:pt x="0" y="91341"/>
                  </a:lnTo>
                  <a:lnTo>
                    <a:pt x="7178" y="55787"/>
                  </a:lnTo>
                  <a:lnTo>
                    <a:pt x="26753" y="26753"/>
                  </a:lnTo>
                  <a:lnTo>
                    <a:pt x="55787" y="7178"/>
                  </a:lnTo>
                  <a:lnTo>
                    <a:pt x="91341" y="0"/>
                  </a:lnTo>
                  <a:lnTo>
                    <a:pt x="3334086" y="0"/>
                  </a:lnTo>
                  <a:lnTo>
                    <a:pt x="3384762" y="15346"/>
                  </a:lnTo>
                  <a:lnTo>
                    <a:pt x="3418475" y="56386"/>
                  </a:lnTo>
                  <a:lnTo>
                    <a:pt x="3425428" y="91341"/>
                  </a:lnTo>
                  <a:lnTo>
                    <a:pt x="3425428" y="1872570"/>
                  </a:lnTo>
                  <a:lnTo>
                    <a:pt x="3418250" y="1908125"/>
                  </a:lnTo>
                  <a:lnTo>
                    <a:pt x="3398674" y="1937158"/>
                  </a:lnTo>
                  <a:lnTo>
                    <a:pt x="3369640" y="1956734"/>
                  </a:lnTo>
                  <a:lnTo>
                    <a:pt x="3334086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3447" y="424753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361" y="456723"/>
                  </a:moveTo>
                  <a:lnTo>
                    <a:pt x="182339" y="452084"/>
                  </a:lnTo>
                  <a:lnTo>
                    <a:pt x="139473" y="438777"/>
                  </a:lnTo>
                  <a:lnTo>
                    <a:pt x="100682" y="417722"/>
                  </a:lnTo>
                  <a:lnTo>
                    <a:pt x="66885" y="389837"/>
                  </a:lnTo>
                  <a:lnTo>
                    <a:pt x="39000" y="356040"/>
                  </a:lnTo>
                  <a:lnTo>
                    <a:pt x="17945" y="317250"/>
                  </a:lnTo>
                  <a:lnTo>
                    <a:pt x="4639" y="274384"/>
                  </a:lnTo>
                  <a:lnTo>
                    <a:pt x="0" y="228361"/>
                  </a:lnTo>
                  <a:lnTo>
                    <a:pt x="4639" y="182338"/>
                  </a:lnTo>
                  <a:lnTo>
                    <a:pt x="17945" y="139473"/>
                  </a:lnTo>
                  <a:lnTo>
                    <a:pt x="39000" y="100682"/>
                  </a:lnTo>
                  <a:lnTo>
                    <a:pt x="66885" y="66885"/>
                  </a:lnTo>
                  <a:lnTo>
                    <a:pt x="100682" y="39000"/>
                  </a:lnTo>
                  <a:lnTo>
                    <a:pt x="139473" y="17945"/>
                  </a:lnTo>
                  <a:lnTo>
                    <a:pt x="182339" y="4639"/>
                  </a:lnTo>
                  <a:lnTo>
                    <a:pt x="228361" y="0"/>
                  </a:lnTo>
                  <a:lnTo>
                    <a:pt x="273121" y="4428"/>
                  </a:lnTo>
                  <a:lnTo>
                    <a:pt x="315752" y="17382"/>
                  </a:lnTo>
                  <a:lnTo>
                    <a:pt x="355057" y="38367"/>
                  </a:lnTo>
                  <a:lnTo>
                    <a:pt x="389838" y="66885"/>
                  </a:lnTo>
                  <a:lnTo>
                    <a:pt x="418356" y="101666"/>
                  </a:lnTo>
                  <a:lnTo>
                    <a:pt x="439340" y="140971"/>
                  </a:lnTo>
                  <a:lnTo>
                    <a:pt x="452295" y="183602"/>
                  </a:lnTo>
                  <a:lnTo>
                    <a:pt x="456723" y="228361"/>
                  </a:lnTo>
                  <a:lnTo>
                    <a:pt x="452084" y="274384"/>
                  </a:lnTo>
                  <a:lnTo>
                    <a:pt x="438777" y="317250"/>
                  </a:lnTo>
                  <a:lnTo>
                    <a:pt x="417723" y="356040"/>
                  </a:lnTo>
                  <a:lnTo>
                    <a:pt x="389838" y="389837"/>
                  </a:lnTo>
                  <a:lnTo>
                    <a:pt x="356041" y="417722"/>
                  </a:lnTo>
                  <a:lnTo>
                    <a:pt x="317250" y="438777"/>
                  </a:lnTo>
                  <a:lnTo>
                    <a:pt x="274384" y="452084"/>
                  </a:lnTo>
                  <a:lnTo>
                    <a:pt x="228361" y="456723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72018" y="4326809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0747" y="4919916"/>
            <a:ext cx="127762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dirty="0">
                <a:solidFill>
                  <a:srgbClr val="20295C"/>
                </a:solidFill>
                <a:latin typeface="Calibri"/>
                <a:cs typeface="Calibri"/>
              </a:rPr>
              <a:t>Status</a:t>
            </a:r>
            <a:r>
              <a:rPr sz="1350" b="1" spc="-50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0295C"/>
                </a:solidFill>
                <a:latin typeface="Calibri"/>
                <a:cs typeface="Calibri"/>
              </a:rPr>
              <a:t>Dashboard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0747" y="5433413"/>
            <a:ext cx="1840864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Live</a:t>
            </a:r>
            <a:r>
              <a:rPr sz="11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view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of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condition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62754" y="3922749"/>
            <a:ext cx="3578225" cy="2116455"/>
            <a:chOff x="4262754" y="3922749"/>
            <a:chExt cx="3578225" cy="211645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2754" y="3922749"/>
              <a:ext cx="3577669" cy="211615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338875" y="3973496"/>
              <a:ext cx="3425825" cy="1964055"/>
            </a:xfrm>
            <a:custGeom>
              <a:avLst/>
              <a:gdLst/>
              <a:ahLst/>
              <a:cxnLst/>
              <a:rect l="l" t="t" r="r" b="b"/>
              <a:pathLst>
                <a:path w="3425825" h="1964054">
                  <a:moveTo>
                    <a:pt x="3334086" y="1963912"/>
                  </a:moveTo>
                  <a:lnTo>
                    <a:pt x="91341" y="1963912"/>
                  </a:lnTo>
                  <a:lnTo>
                    <a:pt x="55787" y="1956734"/>
                  </a:lnTo>
                  <a:lnTo>
                    <a:pt x="26753" y="1937158"/>
                  </a:lnTo>
                  <a:lnTo>
                    <a:pt x="7178" y="1908125"/>
                  </a:lnTo>
                  <a:lnTo>
                    <a:pt x="0" y="1872570"/>
                  </a:lnTo>
                  <a:lnTo>
                    <a:pt x="0" y="91341"/>
                  </a:lnTo>
                  <a:lnTo>
                    <a:pt x="7178" y="55787"/>
                  </a:lnTo>
                  <a:lnTo>
                    <a:pt x="26753" y="26753"/>
                  </a:lnTo>
                  <a:lnTo>
                    <a:pt x="55787" y="7178"/>
                  </a:lnTo>
                  <a:lnTo>
                    <a:pt x="91341" y="0"/>
                  </a:lnTo>
                  <a:lnTo>
                    <a:pt x="3334086" y="0"/>
                  </a:lnTo>
                  <a:lnTo>
                    <a:pt x="3384762" y="15346"/>
                  </a:lnTo>
                  <a:lnTo>
                    <a:pt x="3418475" y="56386"/>
                  </a:lnTo>
                  <a:lnTo>
                    <a:pt x="3425428" y="91341"/>
                  </a:lnTo>
                  <a:lnTo>
                    <a:pt x="3425428" y="1872570"/>
                  </a:lnTo>
                  <a:lnTo>
                    <a:pt x="3418250" y="1908125"/>
                  </a:lnTo>
                  <a:lnTo>
                    <a:pt x="3398674" y="1937158"/>
                  </a:lnTo>
                  <a:lnTo>
                    <a:pt x="3369640" y="1956734"/>
                  </a:lnTo>
                  <a:lnTo>
                    <a:pt x="3334086" y="19639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12909" y="424753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361" y="456723"/>
                  </a:moveTo>
                  <a:lnTo>
                    <a:pt x="182338" y="452084"/>
                  </a:lnTo>
                  <a:lnTo>
                    <a:pt x="139473" y="438777"/>
                  </a:lnTo>
                  <a:lnTo>
                    <a:pt x="100682" y="417722"/>
                  </a:lnTo>
                  <a:lnTo>
                    <a:pt x="66885" y="389837"/>
                  </a:lnTo>
                  <a:lnTo>
                    <a:pt x="39000" y="356040"/>
                  </a:lnTo>
                  <a:lnTo>
                    <a:pt x="17945" y="317250"/>
                  </a:lnTo>
                  <a:lnTo>
                    <a:pt x="4639" y="274384"/>
                  </a:lnTo>
                  <a:lnTo>
                    <a:pt x="0" y="228361"/>
                  </a:lnTo>
                  <a:lnTo>
                    <a:pt x="4639" y="182338"/>
                  </a:lnTo>
                  <a:lnTo>
                    <a:pt x="17945" y="139473"/>
                  </a:lnTo>
                  <a:lnTo>
                    <a:pt x="39000" y="100682"/>
                  </a:lnTo>
                  <a:lnTo>
                    <a:pt x="66885" y="66885"/>
                  </a:lnTo>
                  <a:lnTo>
                    <a:pt x="100682" y="39000"/>
                  </a:lnTo>
                  <a:lnTo>
                    <a:pt x="139473" y="17945"/>
                  </a:lnTo>
                  <a:lnTo>
                    <a:pt x="182338" y="4639"/>
                  </a:lnTo>
                  <a:lnTo>
                    <a:pt x="228361" y="0"/>
                  </a:lnTo>
                  <a:lnTo>
                    <a:pt x="273121" y="4428"/>
                  </a:lnTo>
                  <a:lnTo>
                    <a:pt x="315752" y="17382"/>
                  </a:lnTo>
                  <a:lnTo>
                    <a:pt x="355057" y="38367"/>
                  </a:lnTo>
                  <a:lnTo>
                    <a:pt x="389837" y="66885"/>
                  </a:lnTo>
                  <a:lnTo>
                    <a:pt x="418356" y="101666"/>
                  </a:lnTo>
                  <a:lnTo>
                    <a:pt x="439340" y="140971"/>
                  </a:lnTo>
                  <a:lnTo>
                    <a:pt x="452295" y="183602"/>
                  </a:lnTo>
                  <a:lnTo>
                    <a:pt x="456723" y="228361"/>
                  </a:lnTo>
                  <a:lnTo>
                    <a:pt x="452084" y="274384"/>
                  </a:lnTo>
                  <a:lnTo>
                    <a:pt x="438777" y="317250"/>
                  </a:lnTo>
                  <a:lnTo>
                    <a:pt x="417723" y="356040"/>
                  </a:lnTo>
                  <a:lnTo>
                    <a:pt x="389838" y="389837"/>
                  </a:lnTo>
                  <a:lnTo>
                    <a:pt x="356041" y="417722"/>
                  </a:lnTo>
                  <a:lnTo>
                    <a:pt x="317250" y="438777"/>
                  </a:lnTo>
                  <a:lnTo>
                    <a:pt x="274384" y="452084"/>
                  </a:lnTo>
                  <a:lnTo>
                    <a:pt x="228361" y="456723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771481" y="4326809"/>
            <a:ext cx="146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9" name="object 39"/>
          <p:cNvSpPr txBox="1"/>
          <p:nvPr/>
        </p:nvSpPr>
        <p:spPr>
          <a:xfrm>
            <a:off x="4600209" y="4919916"/>
            <a:ext cx="13474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dirty="0">
                <a:solidFill>
                  <a:srgbClr val="20295C"/>
                </a:solidFill>
                <a:latin typeface="Calibri"/>
                <a:cs typeface="Calibri"/>
              </a:rPr>
              <a:t>Report</a:t>
            </a:r>
            <a:r>
              <a:rPr sz="1350" b="1" spc="-50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0295C"/>
                </a:solidFill>
                <a:latin typeface="Calibri"/>
                <a:cs typeface="Calibri"/>
              </a:rPr>
              <a:t>Generation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00209" y="5433413"/>
            <a:ext cx="151447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Health</a:t>
            </a:r>
            <a:r>
              <a:rPr sz="11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reports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B1F26"/>
                </a:solidFill>
                <a:latin typeface="Calibri"/>
                <a:cs typeface="Calibri"/>
              </a:rPr>
              <a:t>for</a:t>
            </a:r>
            <a:r>
              <a:rPr sz="11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B1F26"/>
                </a:solidFill>
                <a:latin typeface="Calibri"/>
                <a:cs typeface="Calibri"/>
              </a:rPr>
              <a:t>review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30" dirty="0"/>
              <a:t> </a:t>
            </a:r>
            <a:r>
              <a:rPr dirty="0"/>
              <a:t>1</a:t>
            </a:r>
            <a:r>
              <a:rPr spc="-3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90" dirty="0"/>
              <a:t>Real-</a:t>
            </a:r>
            <a:r>
              <a:rPr dirty="0"/>
              <a:t>Time</a:t>
            </a:r>
            <a:r>
              <a:rPr spc="-30" dirty="0"/>
              <a:t> </a:t>
            </a:r>
            <a:r>
              <a:rPr spc="-10" dirty="0"/>
              <a:t>Monitoring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22102" y="1826894"/>
            <a:ext cx="5115560" cy="776605"/>
            <a:chOff x="822102" y="1826894"/>
            <a:chExt cx="5115560" cy="776605"/>
          </a:xfrm>
        </p:grpSpPr>
        <p:sp>
          <p:nvSpPr>
            <p:cNvPr id="5" name="object 5"/>
            <p:cNvSpPr/>
            <p:nvPr/>
          </p:nvSpPr>
          <p:spPr>
            <a:xfrm>
              <a:off x="822102" y="1826894"/>
              <a:ext cx="5115560" cy="776605"/>
            </a:xfrm>
            <a:custGeom>
              <a:avLst/>
              <a:gdLst/>
              <a:ahLst/>
              <a:cxnLst/>
              <a:rect l="l" t="t" r="r" b="b"/>
              <a:pathLst>
                <a:path w="5115560" h="776605">
                  <a:moveTo>
                    <a:pt x="5042228" y="776430"/>
                  </a:moveTo>
                  <a:lnTo>
                    <a:pt x="73077" y="776430"/>
                  </a:lnTo>
                  <a:lnTo>
                    <a:pt x="44632" y="770687"/>
                  </a:lnTo>
                  <a:lnTo>
                    <a:pt x="21403" y="755026"/>
                  </a:lnTo>
                  <a:lnTo>
                    <a:pt x="5742" y="731797"/>
                  </a:lnTo>
                  <a:lnTo>
                    <a:pt x="0" y="703352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5042228" y="0"/>
                  </a:lnTo>
                  <a:lnTo>
                    <a:pt x="5082771" y="12277"/>
                  </a:lnTo>
                  <a:lnTo>
                    <a:pt x="5109743" y="45112"/>
                  </a:lnTo>
                  <a:lnTo>
                    <a:pt x="5115305" y="73077"/>
                  </a:lnTo>
                  <a:lnTo>
                    <a:pt x="5115305" y="703352"/>
                  </a:lnTo>
                  <a:lnTo>
                    <a:pt x="5109563" y="731797"/>
                  </a:lnTo>
                  <a:lnTo>
                    <a:pt x="5093902" y="755026"/>
                  </a:lnTo>
                  <a:lnTo>
                    <a:pt x="5070673" y="770687"/>
                  </a:lnTo>
                  <a:lnTo>
                    <a:pt x="5042228" y="776430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0464" y="207809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19">
                  <a:moveTo>
                    <a:pt x="137017" y="274034"/>
                  </a:moveTo>
                  <a:lnTo>
                    <a:pt x="93709" y="267049"/>
                  </a:lnTo>
                  <a:lnTo>
                    <a:pt x="56096" y="247597"/>
                  </a:lnTo>
                  <a:lnTo>
                    <a:pt x="26436" y="217937"/>
                  </a:lnTo>
                  <a:lnTo>
                    <a:pt x="6985" y="180325"/>
                  </a:lnTo>
                  <a:lnTo>
                    <a:pt x="0" y="137017"/>
                  </a:lnTo>
                  <a:lnTo>
                    <a:pt x="6985" y="93709"/>
                  </a:lnTo>
                  <a:lnTo>
                    <a:pt x="26436" y="56096"/>
                  </a:lnTo>
                  <a:lnTo>
                    <a:pt x="56096" y="26436"/>
                  </a:lnTo>
                  <a:lnTo>
                    <a:pt x="93709" y="6985"/>
                  </a:lnTo>
                  <a:lnTo>
                    <a:pt x="137017" y="0"/>
                  </a:lnTo>
                  <a:lnTo>
                    <a:pt x="163872" y="2657"/>
                  </a:lnTo>
                  <a:lnTo>
                    <a:pt x="213034" y="23020"/>
                  </a:lnTo>
                  <a:lnTo>
                    <a:pt x="251013" y="60999"/>
                  </a:lnTo>
                  <a:lnTo>
                    <a:pt x="271377" y="110161"/>
                  </a:lnTo>
                  <a:lnTo>
                    <a:pt x="274034" y="137017"/>
                  </a:lnTo>
                  <a:lnTo>
                    <a:pt x="267049" y="180325"/>
                  </a:lnTo>
                  <a:lnTo>
                    <a:pt x="247597" y="217937"/>
                  </a:lnTo>
                  <a:lnTo>
                    <a:pt x="217937" y="247597"/>
                  </a:lnTo>
                  <a:lnTo>
                    <a:pt x="180325" y="267049"/>
                  </a:lnTo>
                  <a:lnTo>
                    <a:pt x="137017" y="274034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32915" y="2102501"/>
            <a:ext cx="1028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7084" y="2089815"/>
            <a:ext cx="127000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Device</a:t>
            </a:r>
            <a:r>
              <a:rPr sz="1450" spc="-6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discovery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94132" y="1826894"/>
            <a:ext cx="5115560" cy="776605"/>
            <a:chOff x="6394132" y="1826894"/>
            <a:chExt cx="5115560" cy="776605"/>
          </a:xfrm>
        </p:grpSpPr>
        <p:sp>
          <p:nvSpPr>
            <p:cNvPr id="10" name="object 10"/>
            <p:cNvSpPr/>
            <p:nvPr/>
          </p:nvSpPr>
          <p:spPr>
            <a:xfrm>
              <a:off x="6394132" y="1826894"/>
              <a:ext cx="5115560" cy="776605"/>
            </a:xfrm>
            <a:custGeom>
              <a:avLst/>
              <a:gdLst/>
              <a:ahLst/>
              <a:cxnLst/>
              <a:rect l="l" t="t" r="r" b="b"/>
              <a:pathLst>
                <a:path w="5115559" h="776605">
                  <a:moveTo>
                    <a:pt x="5042228" y="776430"/>
                  </a:moveTo>
                  <a:lnTo>
                    <a:pt x="73077" y="776430"/>
                  </a:lnTo>
                  <a:lnTo>
                    <a:pt x="44632" y="770687"/>
                  </a:lnTo>
                  <a:lnTo>
                    <a:pt x="21403" y="755026"/>
                  </a:lnTo>
                  <a:lnTo>
                    <a:pt x="5742" y="731797"/>
                  </a:lnTo>
                  <a:lnTo>
                    <a:pt x="0" y="703352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5042228" y="0"/>
                  </a:lnTo>
                  <a:lnTo>
                    <a:pt x="5082771" y="12277"/>
                  </a:lnTo>
                  <a:lnTo>
                    <a:pt x="5109743" y="45112"/>
                  </a:lnTo>
                  <a:lnTo>
                    <a:pt x="5115305" y="73077"/>
                  </a:lnTo>
                  <a:lnTo>
                    <a:pt x="5115305" y="703352"/>
                  </a:lnTo>
                  <a:lnTo>
                    <a:pt x="5109562" y="731797"/>
                  </a:lnTo>
                  <a:lnTo>
                    <a:pt x="5093901" y="755026"/>
                  </a:lnTo>
                  <a:lnTo>
                    <a:pt x="5070673" y="770687"/>
                  </a:lnTo>
                  <a:lnTo>
                    <a:pt x="5042228" y="776430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22494" y="207809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017" y="274034"/>
                  </a:moveTo>
                  <a:lnTo>
                    <a:pt x="93709" y="267049"/>
                  </a:lnTo>
                  <a:lnTo>
                    <a:pt x="56096" y="247597"/>
                  </a:lnTo>
                  <a:lnTo>
                    <a:pt x="26436" y="217937"/>
                  </a:lnTo>
                  <a:lnTo>
                    <a:pt x="6985" y="180325"/>
                  </a:lnTo>
                  <a:lnTo>
                    <a:pt x="0" y="137017"/>
                  </a:lnTo>
                  <a:lnTo>
                    <a:pt x="6985" y="93709"/>
                  </a:lnTo>
                  <a:lnTo>
                    <a:pt x="26436" y="56096"/>
                  </a:lnTo>
                  <a:lnTo>
                    <a:pt x="56096" y="26436"/>
                  </a:lnTo>
                  <a:lnTo>
                    <a:pt x="93709" y="6985"/>
                  </a:lnTo>
                  <a:lnTo>
                    <a:pt x="137017" y="0"/>
                  </a:lnTo>
                  <a:lnTo>
                    <a:pt x="163872" y="2657"/>
                  </a:lnTo>
                  <a:lnTo>
                    <a:pt x="213034" y="23020"/>
                  </a:lnTo>
                  <a:lnTo>
                    <a:pt x="251014" y="60999"/>
                  </a:lnTo>
                  <a:lnTo>
                    <a:pt x="271377" y="110161"/>
                  </a:lnTo>
                  <a:lnTo>
                    <a:pt x="274034" y="137017"/>
                  </a:lnTo>
                  <a:lnTo>
                    <a:pt x="267049" y="180325"/>
                  </a:lnTo>
                  <a:lnTo>
                    <a:pt x="247598" y="217937"/>
                  </a:lnTo>
                  <a:lnTo>
                    <a:pt x="217937" y="247597"/>
                  </a:lnTo>
                  <a:lnTo>
                    <a:pt x="180325" y="267049"/>
                  </a:lnTo>
                  <a:lnTo>
                    <a:pt x="137017" y="274034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4945" y="2102501"/>
            <a:ext cx="1028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39114" y="2089815"/>
            <a:ext cx="121666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Ping</a:t>
            </a:r>
            <a:r>
              <a:rPr sz="145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monitoring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2102" y="2877359"/>
            <a:ext cx="5115560" cy="776605"/>
            <a:chOff x="822102" y="2877359"/>
            <a:chExt cx="5115560" cy="776605"/>
          </a:xfrm>
        </p:grpSpPr>
        <p:sp>
          <p:nvSpPr>
            <p:cNvPr id="15" name="object 15"/>
            <p:cNvSpPr/>
            <p:nvPr/>
          </p:nvSpPr>
          <p:spPr>
            <a:xfrm>
              <a:off x="822102" y="2877359"/>
              <a:ext cx="5115560" cy="776605"/>
            </a:xfrm>
            <a:custGeom>
              <a:avLst/>
              <a:gdLst/>
              <a:ahLst/>
              <a:cxnLst/>
              <a:rect l="l" t="t" r="r" b="b"/>
              <a:pathLst>
                <a:path w="5115560" h="776604">
                  <a:moveTo>
                    <a:pt x="5042228" y="776430"/>
                  </a:moveTo>
                  <a:lnTo>
                    <a:pt x="73077" y="776430"/>
                  </a:lnTo>
                  <a:lnTo>
                    <a:pt x="44632" y="770687"/>
                  </a:lnTo>
                  <a:lnTo>
                    <a:pt x="21403" y="755026"/>
                  </a:lnTo>
                  <a:lnTo>
                    <a:pt x="5742" y="731797"/>
                  </a:lnTo>
                  <a:lnTo>
                    <a:pt x="0" y="703352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5042228" y="0"/>
                  </a:lnTo>
                  <a:lnTo>
                    <a:pt x="5082771" y="12277"/>
                  </a:lnTo>
                  <a:lnTo>
                    <a:pt x="5109743" y="45112"/>
                  </a:lnTo>
                  <a:lnTo>
                    <a:pt x="5115305" y="73077"/>
                  </a:lnTo>
                  <a:lnTo>
                    <a:pt x="5115305" y="703352"/>
                  </a:lnTo>
                  <a:lnTo>
                    <a:pt x="5109563" y="731797"/>
                  </a:lnTo>
                  <a:lnTo>
                    <a:pt x="5093902" y="755026"/>
                  </a:lnTo>
                  <a:lnTo>
                    <a:pt x="5070673" y="770687"/>
                  </a:lnTo>
                  <a:lnTo>
                    <a:pt x="5042228" y="776430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0464" y="3128557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017" y="274034"/>
                  </a:moveTo>
                  <a:lnTo>
                    <a:pt x="93709" y="267048"/>
                  </a:lnTo>
                  <a:lnTo>
                    <a:pt x="56096" y="247597"/>
                  </a:lnTo>
                  <a:lnTo>
                    <a:pt x="26436" y="217937"/>
                  </a:lnTo>
                  <a:lnTo>
                    <a:pt x="6985" y="180325"/>
                  </a:lnTo>
                  <a:lnTo>
                    <a:pt x="0" y="137017"/>
                  </a:lnTo>
                  <a:lnTo>
                    <a:pt x="6985" y="93709"/>
                  </a:lnTo>
                  <a:lnTo>
                    <a:pt x="26436" y="56096"/>
                  </a:lnTo>
                  <a:lnTo>
                    <a:pt x="56096" y="26436"/>
                  </a:lnTo>
                  <a:lnTo>
                    <a:pt x="93709" y="6985"/>
                  </a:lnTo>
                  <a:lnTo>
                    <a:pt x="137017" y="0"/>
                  </a:lnTo>
                  <a:lnTo>
                    <a:pt x="163872" y="2657"/>
                  </a:lnTo>
                  <a:lnTo>
                    <a:pt x="213034" y="23020"/>
                  </a:lnTo>
                  <a:lnTo>
                    <a:pt x="251013" y="61000"/>
                  </a:lnTo>
                  <a:lnTo>
                    <a:pt x="271377" y="110161"/>
                  </a:lnTo>
                  <a:lnTo>
                    <a:pt x="274034" y="137017"/>
                  </a:lnTo>
                  <a:lnTo>
                    <a:pt x="267049" y="180325"/>
                  </a:lnTo>
                  <a:lnTo>
                    <a:pt x="247597" y="217937"/>
                  </a:lnTo>
                  <a:lnTo>
                    <a:pt x="217937" y="247597"/>
                  </a:lnTo>
                  <a:lnTo>
                    <a:pt x="180325" y="267048"/>
                  </a:lnTo>
                  <a:lnTo>
                    <a:pt x="137017" y="274034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32915" y="3152966"/>
            <a:ext cx="1028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7084" y="3140280"/>
            <a:ext cx="1682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Latency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measurement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94132" y="2877359"/>
            <a:ext cx="5115560" cy="776605"/>
            <a:chOff x="6394132" y="2877359"/>
            <a:chExt cx="5115560" cy="776605"/>
          </a:xfrm>
        </p:grpSpPr>
        <p:sp>
          <p:nvSpPr>
            <p:cNvPr id="20" name="object 20"/>
            <p:cNvSpPr/>
            <p:nvPr/>
          </p:nvSpPr>
          <p:spPr>
            <a:xfrm>
              <a:off x="6394132" y="2877359"/>
              <a:ext cx="5115560" cy="776605"/>
            </a:xfrm>
            <a:custGeom>
              <a:avLst/>
              <a:gdLst/>
              <a:ahLst/>
              <a:cxnLst/>
              <a:rect l="l" t="t" r="r" b="b"/>
              <a:pathLst>
                <a:path w="5115559" h="776604">
                  <a:moveTo>
                    <a:pt x="5042228" y="776430"/>
                  </a:moveTo>
                  <a:lnTo>
                    <a:pt x="73077" y="776430"/>
                  </a:lnTo>
                  <a:lnTo>
                    <a:pt x="44632" y="770687"/>
                  </a:lnTo>
                  <a:lnTo>
                    <a:pt x="21403" y="755026"/>
                  </a:lnTo>
                  <a:lnTo>
                    <a:pt x="5742" y="731797"/>
                  </a:lnTo>
                  <a:lnTo>
                    <a:pt x="0" y="703352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5042228" y="0"/>
                  </a:lnTo>
                  <a:lnTo>
                    <a:pt x="5082771" y="12277"/>
                  </a:lnTo>
                  <a:lnTo>
                    <a:pt x="5109743" y="45112"/>
                  </a:lnTo>
                  <a:lnTo>
                    <a:pt x="5115305" y="73077"/>
                  </a:lnTo>
                  <a:lnTo>
                    <a:pt x="5115305" y="703352"/>
                  </a:lnTo>
                  <a:lnTo>
                    <a:pt x="5109562" y="731797"/>
                  </a:lnTo>
                  <a:lnTo>
                    <a:pt x="5093901" y="755026"/>
                  </a:lnTo>
                  <a:lnTo>
                    <a:pt x="5070673" y="770687"/>
                  </a:lnTo>
                  <a:lnTo>
                    <a:pt x="5042228" y="776430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22494" y="3128557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017" y="274034"/>
                  </a:moveTo>
                  <a:lnTo>
                    <a:pt x="93709" y="267048"/>
                  </a:lnTo>
                  <a:lnTo>
                    <a:pt x="56096" y="247597"/>
                  </a:lnTo>
                  <a:lnTo>
                    <a:pt x="26436" y="217937"/>
                  </a:lnTo>
                  <a:lnTo>
                    <a:pt x="6985" y="180325"/>
                  </a:lnTo>
                  <a:lnTo>
                    <a:pt x="0" y="137017"/>
                  </a:lnTo>
                  <a:lnTo>
                    <a:pt x="6985" y="93709"/>
                  </a:lnTo>
                  <a:lnTo>
                    <a:pt x="26436" y="56096"/>
                  </a:lnTo>
                  <a:lnTo>
                    <a:pt x="56096" y="26436"/>
                  </a:lnTo>
                  <a:lnTo>
                    <a:pt x="93709" y="6985"/>
                  </a:lnTo>
                  <a:lnTo>
                    <a:pt x="137017" y="0"/>
                  </a:lnTo>
                  <a:lnTo>
                    <a:pt x="163872" y="2657"/>
                  </a:lnTo>
                  <a:lnTo>
                    <a:pt x="213034" y="23020"/>
                  </a:lnTo>
                  <a:lnTo>
                    <a:pt x="251014" y="61000"/>
                  </a:lnTo>
                  <a:lnTo>
                    <a:pt x="271377" y="110161"/>
                  </a:lnTo>
                  <a:lnTo>
                    <a:pt x="274034" y="137017"/>
                  </a:lnTo>
                  <a:lnTo>
                    <a:pt x="267049" y="180325"/>
                  </a:lnTo>
                  <a:lnTo>
                    <a:pt x="247598" y="217937"/>
                  </a:lnTo>
                  <a:lnTo>
                    <a:pt x="217937" y="247597"/>
                  </a:lnTo>
                  <a:lnTo>
                    <a:pt x="180325" y="267048"/>
                  </a:lnTo>
                  <a:lnTo>
                    <a:pt x="137017" y="274034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04945" y="3152966"/>
            <a:ext cx="1028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39114" y="3140280"/>
            <a:ext cx="15919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20" dirty="0">
                <a:solidFill>
                  <a:srgbClr val="1B1F26"/>
                </a:solidFill>
                <a:latin typeface="Calibri"/>
                <a:cs typeface="Calibri"/>
              </a:rPr>
              <a:t>Packet</a:t>
            </a:r>
            <a:r>
              <a:rPr sz="145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loss</a:t>
            </a:r>
            <a:r>
              <a:rPr sz="145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detection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2102" y="3927824"/>
            <a:ext cx="5115560" cy="776605"/>
            <a:chOff x="822102" y="3927824"/>
            <a:chExt cx="5115560" cy="776605"/>
          </a:xfrm>
        </p:grpSpPr>
        <p:sp>
          <p:nvSpPr>
            <p:cNvPr id="25" name="object 25"/>
            <p:cNvSpPr/>
            <p:nvPr/>
          </p:nvSpPr>
          <p:spPr>
            <a:xfrm>
              <a:off x="822102" y="3927824"/>
              <a:ext cx="5115560" cy="776605"/>
            </a:xfrm>
            <a:custGeom>
              <a:avLst/>
              <a:gdLst/>
              <a:ahLst/>
              <a:cxnLst/>
              <a:rect l="l" t="t" r="r" b="b"/>
              <a:pathLst>
                <a:path w="5115560" h="776604">
                  <a:moveTo>
                    <a:pt x="5042228" y="776430"/>
                  </a:moveTo>
                  <a:lnTo>
                    <a:pt x="73077" y="776430"/>
                  </a:lnTo>
                  <a:lnTo>
                    <a:pt x="44632" y="770687"/>
                  </a:lnTo>
                  <a:lnTo>
                    <a:pt x="21403" y="755026"/>
                  </a:lnTo>
                  <a:lnTo>
                    <a:pt x="5742" y="731797"/>
                  </a:lnTo>
                  <a:lnTo>
                    <a:pt x="0" y="703352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4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5042228" y="0"/>
                  </a:lnTo>
                  <a:lnTo>
                    <a:pt x="5082771" y="12277"/>
                  </a:lnTo>
                  <a:lnTo>
                    <a:pt x="5109743" y="45112"/>
                  </a:lnTo>
                  <a:lnTo>
                    <a:pt x="5115305" y="73077"/>
                  </a:lnTo>
                  <a:lnTo>
                    <a:pt x="5115305" y="703352"/>
                  </a:lnTo>
                  <a:lnTo>
                    <a:pt x="5109563" y="731797"/>
                  </a:lnTo>
                  <a:lnTo>
                    <a:pt x="5093902" y="755026"/>
                  </a:lnTo>
                  <a:lnTo>
                    <a:pt x="5070673" y="770687"/>
                  </a:lnTo>
                  <a:lnTo>
                    <a:pt x="5042228" y="776430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0464" y="417902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19" h="274320">
                  <a:moveTo>
                    <a:pt x="137017" y="274034"/>
                  </a:moveTo>
                  <a:lnTo>
                    <a:pt x="93709" y="267048"/>
                  </a:lnTo>
                  <a:lnTo>
                    <a:pt x="56096" y="247597"/>
                  </a:lnTo>
                  <a:lnTo>
                    <a:pt x="26436" y="217937"/>
                  </a:lnTo>
                  <a:lnTo>
                    <a:pt x="6985" y="180324"/>
                  </a:lnTo>
                  <a:lnTo>
                    <a:pt x="0" y="137016"/>
                  </a:lnTo>
                  <a:lnTo>
                    <a:pt x="6985" y="93708"/>
                  </a:lnTo>
                  <a:lnTo>
                    <a:pt x="26436" y="56096"/>
                  </a:lnTo>
                  <a:lnTo>
                    <a:pt x="56096" y="26436"/>
                  </a:lnTo>
                  <a:lnTo>
                    <a:pt x="93709" y="6985"/>
                  </a:lnTo>
                  <a:lnTo>
                    <a:pt x="137017" y="0"/>
                  </a:lnTo>
                  <a:lnTo>
                    <a:pt x="163872" y="2657"/>
                  </a:lnTo>
                  <a:lnTo>
                    <a:pt x="213034" y="23020"/>
                  </a:lnTo>
                  <a:lnTo>
                    <a:pt x="251013" y="60999"/>
                  </a:lnTo>
                  <a:lnTo>
                    <a:pt x="271377" y="110161"/>
                  </a:lnTo>
                  <a:lnTo>
                    <a:pt x="274034" y="137016"/>
                  </a:lnTo>
                  <a:lnTo>
                    <a:pt x="267049" y="180324"/>
                  </a:lnTo>
                  <a:lnTo>
                    <a:pt x="247597" y="217937"/>
                  </a:lnTo>
                  <a:lnTo>
                    <a:pt x="217937" y="247597"/>
                  </a:lnTo>
                  <a:lnTo>
                    <a:pt x="180325" y="267048"/>
                  </a:lnTo>
                  <a:lnTo>
                    <a:pt x="137017" y="274034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32915" y="4203431"/>
            <a:ext cx="1028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67084" y="4190744"/>
            <a:ext cx="170624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Bandwidth monitoring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94132" y="3927824"/>
            <a:ext cx="5115560" cy="776605"/>
            <a:chOff x="6394132" y="3927824"/>
            <a:chExt cx="5115560" cy="776605"/>
          </a:xfrm>
        </p:grpSpPr>
        <p:sp>
          <p:nvSpPr>
            <p:cNvPr id="30" name="object 30"/>
            <p:cNvSpPr/>
            <p:nvPr/>
          </p:nvSpPr>
          <p:spPr>
            <a:xfrm>
              <a:off x="6394132" y="3927824"/>
              <a:ext cx="5115560" cy="776605"/>
            </a:xfrm>
            <a:custGeom>
              <a:avLst/>
              <a:gdLst/>
              <a:ahLst/>
              <a:cxnLst/>
              <a:rect l="l" t="t" r="r" b="b"/>
              <a:pathLst>
                <a:path w="5115559" h="776604">
                  <a:moveTo>
                    <a:pt x="5042228" y="776430"/>
                  </a:moveTo>
                  <a:lnTo>
                    <a:pt x="73077" y="776430"/>
                  </a:lnTo>
                  <a:lnTo>
                    <a:pt x="44632" y="770687"/>
                  </a:lnTo>
                  <a:lnTo>
                    <a:pt x="21403" y="755026"/>
                  </a:lnTo>
                  <a:lnTo>
                    <a:pt x="5742" y="731797"/>
                  </a:lnTo>
                  <a:lnTo>
                    <a:pt x="0" y="703352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4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5042228" y="0"/>
                  </a:lnTo>
                  <a:lnTo>
                    <a:pt x="5082771" y="12277"/>
                  </a:lnTo>
                  <a:lnTo>
                    <a:pt x="5109743" y="45112"/>
                  </a:lnTo>
                  <a:lnTo>
                    <a:pt x="5115305" y="73077"/>
                  </a:lnTo>
                  <a:lnTo>
                    <a:pt x="5115305" y="703352"/>
                  </a:lnTo>
                  <a:lnTo>
                    <a:pt x="5109562" y="731797"/>
                  </a:lnTo>
                  <a:lnTo>
                    <a:pt x="5093901" y="755026"/>
                  </a:lnTo>
                  <a:lnTo>
                    <a:pt x="5070673" y="770687"/>
                  </a:lnTo>
                  <a:lnTo>
                    <a:pt x="5042228" y="776430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22494" y="417902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017" y="274034"/>
                  </a:moveTo>
                  <a:lnTo>
                    <a:pt x="93709" y="267048"/>
                  </a:lnTo>
                  <a:lnTo>
                    <a:pt x="56096" y="247597"/>
                  </a:lnTo>
                  <a:lnTo>
                    <a:pt x="26436" y="217937"/>
                  </a:lnTo>
                  <a:lnTo>
                    <a:pt x="6985" y="180324"/>
                  </a:lnTo>
                  <a:lnTo>
                    <a:pt x="0" y="137016"/>
                  </a:lnTo>
                  <a:lnTo>
                    <a:pt x="6985" y="93708"/>
                  </a:lnTo>
                  <a:lnTo>
                    <a:pt x="26436" y="56096"/>
                  </a:lnTo>
                  <a:lnTo>
                    <a:pt x="56096" y="26436"/>
                  </a:lnTo>
                  <a:lnTo>
                    <a:pt x="93709" y="6985"/>
                  </a:lnTo>
                  <a:lnTo>
                    <a:pt x="137017" y="0"/>
                  </a:lnTo>
                  <a:lnTo>
                    <a:pt x="163872" y="2657"/>
                  </a:lnTo>
                  <a:lnTo>
                    <a:pt x="213034" y="23020"/>
                  </a:lnTo>
                  <a:lnTo>
                    <a:pt x="251014" y="60999"/>
                  </a:lnTo>
                  <a:lnTo>
                    <a:pt x="271377" y="110161"/>
                  </a:lnTo>
                  <a:lnTo>
                    <a:pt x="274034" y="137016"/>
                  </a:lnTo>
                  <a:lnTo>
                    <a:pt x="267049" y="180324"/>
                  </a:lnTo>
                  <a:lnTo>
                    <a:pt x="247598" y="217937"/>
                  </a:lnTo>
                  <a:lnTo>
                    <a:pt x="217937" y="247597"/>
                  </a:lnTo>
                  <a:lnTo>
                    <a:pt x="180325" y="267048"/>
                  </a:lnTo>
                  <a:lnTo>
                    <a:pt x="137017" y="274034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704945" y="4203431"/>
            <a:ext cx="1028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3" name="object 33"/>
          <p:cNvSpPr txBox="1"/>
          <p:nvPr/>
        </p:nvSpPr>
        <p:spPr>
          <a:xfrm>
            <a:off x="7039114" y="4190744"/>
            <a:ext cx="115316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Live</a:t>
            </a:r>
            <a:r>
              <a:rPr sz="1450" spc="-5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dashboard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1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068" y="502396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639444" h="639444">
                <a:moveTo>
                  <a:pt x="319706" y="639413"/>
                </a:moveTo>
                <a:lnTo>
                  <a:pt x="272462" y="635946"/>
                </a:lnTo>
                <a:lnTo>
                  <a:pt x="227371" y="625877"/>
                </a:lnTo>
                <a:lnTo>
                  <a:pt x="184926" y="609698"/>
                </a:lnTo>
                <a:lnTo>
                  <a:pt x="145623" y="587906"/>
                </a:lnTo>
                <a:lnTo>
                  <a:pt x="109955" y="560994"/>
                </a:lnTo>
                <a:lnTo>
                  <a:pt x="78418" y="529457"/>
                </a:lnTo>
                <a:lnTo>
                  <a:pt x="51506" y="493790"/>
                </a:lnTo>
                <a:lnTo>
                  <a:pt x="29714" y="454486"/>
                </a:lnTo>
                <a:lnTo>
                  <a:pt x="13536" y="412042"/>
                </a:lnTo>
                <a:lnTo>
                  <a:pt x="3466" y="366950"/>
                </a:lnTo>
                <a:lnTo>
                  <a:pt x="0" y="319706"/>
                </a:lnTo>
                <a:lnTo>
                  <a:pt x="3466" y="272462"/>
                </a:lnTo>
                <a:lnTo>
                  <a:pt x="13536" y="227371"/>
                </a:lnTo>
                <a:lnTo>
                  <a:pt x="29714" y="184926"/>
                </a:lnTo>
                <a:lnTo>
                  <a:pt x="51506" y="145622"/>
                </a:lnTo>
                <a:lnTo>
                  <a:pt x="78418" y="109955"/>
                </a:lnTo>
                <a:lnTo>
                  <a:pt x="109955" y="78418"/>
                </a:lnTo>
                <a:lnTo>
                  <a:pt x="145623" y="51506"/>
                </a:lnTo>
                <a:lnTo>
                  <a:pt x="184926" y="29714"/>
                </a:lnTo>
                <a:lnTo>
                  <a:pt x="227371" y="13536"/>
                </a:lnTo>
                <a:lnTo>
                  <a:pt x="272462" y="3466"/>
                </a:lnTo>
                <a:lnTo>
                  <a:pt x="319706" y="0"/>
                </a:lnTo>
                <a:lnTo>
                  <a:pt x="370021" y="3982"/>
                </a:lnTo>
                <a:lnTo>
                  <a:pt x="418644" y="15693"/>
                </a:lnTo>
                <a:lnTo>
                  <a:pt x="464716" y="34777"/>
                </a:lnTo>
                <a:lnTo>
                  <a:pt x="507379" y="60877"/>
                </a:lnTo>
                <a:lnTo>
                  <a:pt x="545773" y="93639"/>
                </a:lnTo>
                <a:lnTo>
                  <a:pt x="578535" y="132034"/>
                </a:lnTo>
                <a:lnTo>
                  <a:pt x="604635" y="174696"/>
                </a:lnTo>
                <a:lnTo>
                  <a:pt x="623719" y="220768"/>
                </a:lnTo>
                <a:lnTo>
                  <a:pt x="635430" y="269391"/>
                </a:lnTo>
                <a:lnTo>
                  <a:pt x="639413" y="319706"/>
                </a:lnTo>
                <a:lnTo>
                  <a:pt x="635946" y="366950"/>
                </a:lnTo>
                <a:lnTo>
                  <a:pt x="625877" y="412042"/>
                </a:lnTo>
                <a:lnTo>
                  <a:pt x="609698" y="454486"/>
                </a:lnTo>
                <a:lnTo>
                  <a:pt x="587906" y="493790"/>
                </a:lnTo>
                <a:lnTo>
                  <a:pt x="560994" y="529457"/>
                </a:lnTo>
                <a:lnTo>
                  <a:pt x="529457" y="560994"/>
                </a:lnTo>
                <a:lnTo>
                  <a:pt x="493790" y="587906"/>
                </a:lnTo>
                <a:lnTo>
                  <a:pt x="454486" y="609698"/>
                </a:lnTo>
                <a:lnTo>
                  <a:pt x="412042" y="625877"/>
                </a:lnTo>
                <a:lnTo>
                  <a:pt x="366950" y="635946"/>
                </a:lnTo>
                <a:lnTo>
                  <a:pt x="319706" y="639413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70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dirty="0"/>
              <a:t>Intelligent</a:t>
            </a:r>
            <a:r>
              <a:rPr spc="-65" dirty="0"/>
              <a:t> </a:t>
            </a:r>
            <a:r>
              <a:rPr spc="-10" dirty="0"/>
              <a:t>Diagnosis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58668" y="1880179"/>
            <a:ext cx="10448925" cy="748030"/>
            <a:chOff x="758668" y="1880179"/>
            <a:chExt cx="10448925" cy="7480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68" y="1880179"/>
              <a:ext cx="10448823" cy="7480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22102" y="1918239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1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50464" y="2073525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0"/>
                  </a:lnTo>
                  <a:lnTo>
                    <a:pt x="29961" y="246995"/>
                  </a:lnTo>
                  <a:lnTo>
                    <a:pt x="7916" y="204368"/>
                  </a:lnTo>
                  <a:lnTo>
                    <a:pt x="0" y="155285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5"/>
                  </a:lnTo>
                  <a:lnTo>
                    <a:pt x="302655" y="204368"/>
                  </a:lnTo>
                  <a:lnTo>
                    <a:pt x="280610" y="246995"/>
                  </a:lnTo>
                  <a:lnTo>
                    <a:pt x="246996" y="280610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1945" y="2113032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0160" y="2103516"/>
            <a:ext cx="199453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20" dirty="0">
                <a:solidFill>
                  <a:srgbClr val="1B1F26"/>
                </a:solidFill>
                <a:latin typeface="Calibri"/>
                <a:cs typeface="Calibri"/>
              </a:rPr>
              <a:t>Rule-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based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fault</a:t>
            </a:r>
            <a:r>
              <a:rPr sz="14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detection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8668" y="2720550"/>
            <a:ext cx="10448925" cy="748030"/>
            <a:chOff x="758668" y="2720550"/>
            <a:chExt cx="10448925" cy="74803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68" y="2720550"/>
              <a:ext cx="10448823" cy="74801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22102" y="2758611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1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0464" y="2913897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202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51945" y="295340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0160" y="2943888"/>
            <a:ext cx="146748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Root</a:t>
            </a:r>
            <a:r>
              <a:rPr sz="145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cause</a:t>
            </a:r>
            <a:r>
              <a:rPr sz="145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analysis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58668" y="3560922"/>
            <a:ext cx="10448925" cy="748030"/>
            <a:chOff x="758668" y="3560922"/>
            <a:chExt cx="10448925" cy="74803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68" y="3560922"/>
              <a:ext cx="10448823" cy="7480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22102" y="3598982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2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0464" y="3754268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51945" y="3793775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40160" y="3784260"/>
            <a:ext cx="20808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450" spc="-3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issue</a:t>
            </a:r>
            <a:r>
              <a:rPr sz="1450" spc="-3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classification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58668" y="4401294"/>
            <a:ext cx="10448925" cy="748030"/>
            <a:chOff x="758668" y="4401294"/>
            <a:chExt cx="10448925" cy="74803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68" y="4401294"/>
              <a:ext cx="10448823" cy="7480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22102" y="4439354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2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50464" y="459464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2029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151945" y="4634147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40160" y="4624632"/>
            <a:ext cx="186245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Severity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level</a:t>
            </a:r>
            <a:r>
              <a:rPr sz="14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calculation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58668" y="5241666"/>
            <a:ext cx="10448925" cy="748030"/>
            <a:chOff x="758668" y="5241666"/>
            <a:chExt cx="10448925" cy="74803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668" y="5241666"/>
              <a:ext cx="10448823" cy="74801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22102" y="5279726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2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50464" y="543501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51945" y="5465004"/>
            <a:ext cx="201739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0685" algn="l"/>
              </a:tabLst>
            </a:pPr>
            <a:r>
              <a:rPr sz="1950" b="1" spc="-75" baseline="2136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950" b="1" baseline="213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health</a:t>
            </a:r>
            <a:r>
              <a:rPr sz="14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B1F26"/>
                </a:solidFill>
                <a:latin typeface="Calibri"/>
                <a:cs typeface="Calibri"/>
              </a:rPr>
              <a:t>score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40" dirty="0"/>
              <a:t> </a:t>
            </a:r>
            <a:r>
              <a:rPr dirty="0"/>
              <a:t>3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20" dirty="0"/>
              <a:t>Troubleshooting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Reporting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22102" y="1918239"/>
            <a:ext cx="10322560" cy="621665"/>
            <a:chOff x="822102" y="1918239"/>
            <a:chExt cx="10322560" cy="621665"/>
          </a:xfrm>
        </p:grpSpPr>
        <p:sp>
          <p:nvSpPr>
            <p:cNvPr id="5" name="object 5"/>
            <p:cNvSpPr/>
            <p:nvPr/>
          </p:nvSpPr>
          <p:spPr>
            <a:xfrm>
              <a:off x="822102" y="1918239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1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0464" y="2073525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0"/>
                  </a:lnTo>
                  <a:lnTo>
                    <a:pt x="29961" y="246995"/>
                  </a:lnTo>
                  <a:lnTo>
                    <a:pt x="7916" y="204368"/>
                  </a:lnTo>
                  <a:lnTo>
                    <a:pt x="0" y="155285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5"/>
                  </a:lnTo>
                  <a:lnTo>
                    <a:pt x="302655" y="204368"/>
                  </a:lnTo>
                  <a:lnTo>
                    <a:pt x="280610" y="246995"/>
                  </a:lnTo>
                  <a:lnTo>
                    <a:pt x="246996" y="280610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51945" y="2113032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0160" y="2103516"/>
            <a:ext cx="264096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20" dirty="0">
                <a:solidFill>
                  <a:srgbClr val="1B1F26"/>
                </a:solidFill>
                <a:latin typeface="Calibri"/>
                <a:cs typeface="Calibri"/>
              </a:rPr>
              <a:t>Troubleshooting</a:t>
            </a:r>
            <a:r>
              <a:rPr sz="1450" spc="6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recommendations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22102" y="2758611"/>
            <a:ext cx="10322560" cy="621665"/>
            <a:chOff x="822102" y="2758611"/>
            <a:chExt cx="10322560" cy="621665"/>
          </a:xfrm>
        </p:grpSpPr>
        <p:sp>
          <p:nvSpPr>
            <p:cNvPr id="10" name="object 10"/>
            <p:cNvSpPr/>
            <p:nvPr/>
          </p:nvSpPr>
          <p:spPr>
            <a:xfrm>
              <a:off x="822102" y="2758611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1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50464" y="2913897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51945" y="2953403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0160" y="2943888"/>
            <a:ext cx="13608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Alert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notifications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2102" y="3598983"/>
            <a:ext cx="10322560" cy="621665"/>
            <a:chOff x="822102" y="3598983"/>
            <a:chExt cx="10322560" cy="621665"/>
          </a:xfrm>
        </p:grpSpPr>
        <p:sp>
          <p:nvSpPr>
            <p:cNvPr id="15" name="object 15"/>
            <p:cNvSpPr/>
            <p:nvPr/>
          </p:nvSpPr>
          <p:spPr>
            <a:xfrm>
              <a:off x="822102" y="3598983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2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0464" y="3754269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51945" y="3793775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0160" y="3784260"/>
            <a:ext cx="177546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Network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B1F26"/>
                </a:solidFill>
                <a:latin typeface="Calibri"/>
                <a:cs typeface="Calibri"/>
              </a:rPr>
              <a:t>health</a:t>
            </a:r>
            <a:r>
              <a:rPr sz="1450" spc="-4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reports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2102" y="4439354"/>
            <a:ext cx="10322560" cy="621665"/>
            <a:chOff x="822102" y="4439354"/>
            <a:chExt cx="10322560" cy="621665"/>
          </a:xfrm>
        </p:grpSpPr>
        <p:sp>
          <p:nvSpPr>
            <p:cNvPr id="20" name="object 20"/>
            <p:cNvSpPr/>
            <p:nvPr/>
          </p:nvSpPr>
          <p:spPr>
            <a:xfrm>
              <a:off x="822102" y="4439354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2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50464" y="459464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B72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51945" y="4634147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40160" y="4624632"/>
            <a:ext cx="154241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Performance</a:t>
            </a:r>
            <a:r>
              <a:rPr sz="145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history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22102" y="5279726"/>
            <a:ext cx="10322560" cy="621665"/>
            <a:chOff x="822102" y="5279726"/>
            <a:chExt cx="10322560" cy="621665"/>
          </a:xfrm>
        </p:grpSpPr>
        <p:sp>
          <p:nvSpPr>
            <p:cNvPr id="25" name="object 25"/>
            <p:cNvSpPr/>
            <p:nvPr/>
          </p:nvSpPr>
          <p:spPr>
            <a:xfrm>
              <a:off x="822102" y="5279726"/>
              <a:ext cx="10322560" cy="621665"/>
            </a:xfrm>
            <a:custGeom>
              <a:avLst/>
              <a:gdLst/>
              <a:ahLst/>
              <a:cxnLst/>
              <a:rect l="l" t="t" r="r" b="b"/>
              <a:pathLst>
                <a:path w="10322560" h="621664">
                  <a:moveTo>
                    <a:pt x="10248878" y="621144"/>
                  </a:moveTo>
                  <a:lnTo>
                    <a:pt x="73077" y="621144"/>
                  </a:lnTo>
                  <a:lnTo>
                    <a:pt x="44632" y="615401"/>
                  </a:lnTo>
                  <a:lnTo>
                    <a:pt x="21403" y="599740"/>
                  </a:lnTo>
                  <a:lnTo>
                    <a:pt x="5742" y="576511"/>
                  </a:lnTo>
                  <a:lnTo>
                    <a:pt x="0" y="548066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10248878" y="0"/>
                  </a:lnTo>
                  <a:lnTo>
                    <a:pt x="10289422" y="12277"/>
                  </a:lnTo>
                  <a:lnTo>
                    <a:pt x="10316393" y="45112"/>
                  </a:lnTo>
                  <a:lnTo>
                    <a:pt x="10321956" y="73077"/>
                  </a:lnTo>
                  <a:lnTo>
                    <a:pt x="10321956" y="548066"/>
                  </a:lnTo>
                  <a:lnTo>
                    <a:pt x="10316213" y="576511"/>
                  </a:lnTo>
                  <a:lnTo>
                    <a:pt x="10300552" y="599740"/>
                  </a:lnTo>
                  <a:lnTo>
                    <a:pt x="10277324" y="615401"/>
                  </a:lnTo>
                  <a:lnTo>
                    <a:pt x="10248878" y="621144"/>
                  </a:lnTo>
                  <a:close/>
                </a:path>
              </a:pathLst>
            </a:custGeom>
            <a:solidFill>
              <a:srgbClr val="F1F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0464" y="543501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055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1945" y="5465004"/>
            <a:ext cx="227901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0685" algn="l"/>
              </a:tabLst>
            </a:pPr>
            <a:r>
              <a:rPr sz="1950" b="1" spc="-75" baseline="2136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950" b="1" baseline="2136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Administrator</a:t>
            </a:r>
            <a:r>
              <a:rPr sz="1450" spc="-5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B1F26"/>
                </a:solidFill>
                <a:latin typeface="Calibri"/>
                <a:cs typeface="Calibri"/>
              </a:rPr>
              <a:t>dashboard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F1F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068" y="502396"/>
            <a:ext cx="639445" cy="639445"/>
          </a:xfrm>
          <a:custGeom>
            <a:avLst/>
            <a:gdLst/>
            <a:ahLst/>
            <a:cxnLst/>
            <a:rect l="l" t="t" r="r" b="b"/>
            <a:pathLst>
              <a:path w="639444" h="639444">
                <a:moveTo>
                  <a:pt x="319706" y="639413"/>
                </a:moveTo>
                <a:lnTo>
                  <a:pt x="272462" y="635946"/>
                </a:lnTo>
                <a:lnTo>
                  <a:pt x="227371" y="625877"/>
                </a:lnTo>
                <a:lnTo>
                  <a:pt x="184926" y="609698"/>
                </a:lnTo>
                <a:lnTo>
                  <a:pt x="145623" y="587906"/>
                </a:lnTo>
                <a:lnTo>
                  <a:pt x="109955" y="560994"/>
                </a:lnTo>
                <a:lnTo>
                  <a:pt x="78418" y="529457"/>
                </a:lnTo>
                <a:lnTo>
                  <a:pt x="51506" y="493790"/>
                </a:lnTo>
                <a:lnTo>
                  <a:pt x="29714" y="454486"/>
                </a:lnTo>
                <a:lnTo>
                  <a:pt x="13536" y="412042"/>
                </a:lnTo>
                <a:lnTo>
                  <a:pt x="3466" y="366950"/>
                </a:lnTo>
                <a:lnTo>
                  <a:pt x="0" y="319706"/>
                </a:lnTo>
                <a:lnTo>
                  <a:pt x="3466" y="272462"/>
                </a:lnTo>
                <a:lnTo>
                  <a:pt x="13536" y="227371"/>
                </a:lnTo>
                <a:lnTo>
                  <a:pt x="29714" y="184926"/>
                </a:lnTo>
                <a:lnTo>
                  <a:pt x="51506" y="145622"/>
                </a:lnTo>
                <a:lnTo>
                  <a:pt x="78418" y="109955"/>
                </a:lnTo>
                <a:lnTo>
                  <a:pt x="109955" y="78418"/>
                </a:lnTo>
                <a:lnTo>
                  <a:pt x="145623" y="51506"/>
                </a:lnTo>
                <a:lnTo>
                  <a:pt x="184926" y="29714"/>
                </a:lnTo>
                <a:lnTo>
                  <a:pt x="227371" y="13536"/>
                </a:lnTo>
                <a:lnTo>
                  <a:pt x="272462" y="3466"/>
                </a:lnTo>
                <a:lnTo>
                  <a:pt x="319706" y="0"/>
                </a:lnTo>
                <a:lnTo>
                  <a:pt x="370021" y="3982"/>
                </a:lnTo>
                <a:lnTo>
                  <a:pt x="418644" y="15693"/>
                </a:lnTo>
                <a:lnTo>
                  <a:pt x="464716" y="34777"/>
                </a:lnTo>
                <a:lnTo>
                  <a:pt x="507379" y="60877"/>
                </a:lnTo>
                <a:lnTo>
                  <a:pt x="545773" y="93639"/>
                </a:lnTo>
                <a:lnTo>
                  <a:pt x="578535" y="132034"/>
                </a:lnTo>
                <a:lnTo>
                  <a:pt x="604635" y="174696"/>
                </a:lnTo>
                <a:lnTo>
                  <a:pt x="623719" y="220768"/>
                </a:lnTo>
                <a:lnTo>
                  <a:pt x="635430" y="269391"/>
                </a:lnTo>
                <a:lnTo>
                  <a:pt x="639413" y="319706"/>
                </a:lnTo>
                <a:lnTo>
                  <a:pt x="635946" y="366950"/>
                </a:lnTo>
                <a:lnTo>
                  <a:pt x="625877" y="412042"/>
                </a:lnTo>
                <a:lnTo>
                  <a:pt x="609698" y="454486"/>
                </a:lnTo>
                <a:lnTo>
                  <a:pt x="587906" y="493790"/>
                </a:lnTo>
                <a:lnTo>
                  <a:pt x="560994" y="529457"/>
                </a:lnTo>
                <a:lnTo>
                  <a:pt x="529457" y="560994"/>
                </a:lnTo>
                <a:lnTo>
                  <a:pt x="493790" y="587906"/>
                </a:lnTo>
                <a:lnTo>
                  <a:pt x="454486" y="609698"/>
                </a:lnTo>
                <a:lnTo>
                  <a:pt x="412042" y="625877"/>
                </a:lnTo>
                <a:lnTo>
                  <a:pt x="366950" y="635946"/>
                </a:lnTo>
                <a:lnTo>
                  <a:pt x="319706" y="639413"/>
                </a:lnTo>
                <a:close/>
              </a:path>
            </a:pathLst>
          </a:custGeom>
          <a:solidFill>
            <a:srgbClr val="055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73245" y="630202"/>
            <a:ext cx="191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0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57471" y="562010"/>
            <a:ext cx="296037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Software</a:t>
            </a:r>
            <a:r>
              <a:rPr spc="-70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spc="-30" dirty="0"/>
              <a:t>Tools</a:t>
            </a:r>
          </a:p>
        </p:txBody>
      </p:sp>
      <p:sp>
        <p:nvSpPr>
          <p:cNvPr id="6" name="object 6"/>
          <p:cNvSpPr/>
          <p:nvPr/>
        </p:nvSpPr>
        <p:spPr>
          <a:xfrm>
            <a:off x="822102" y="1781222"/>
            <a:ext cx="10322560" cy="667385"/>
          </a:xfrm>
          <a:custGeom>
            <a:avLst/>
            <a:gdLst/>
            <a:ahLst/>
            <a:cxnLst/>
            <a:rect l="l" t="t" r="r" b="b"/>
            <a:pathLst>
              <a:path w="10322560" h="667385">
                <a:moveTo>
                  <a:pt x="10321956" y="666816"/>
                </a:moveTo>
                <a:lnTo>
                  <a:pt x="0" y="666816"/>
                </a:lnTo>
                <a:lnTo>
                  <a:pt x="0" y="0"/>
                </a:lnTo>
                <a:lnTo>
                  <a:pt x="10321956" y="0"/>
                </a:lnTo>
                <a:lnTo>
                  <a:pt x="10321956" y="666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2102" y="1990921"/>
            <a:ext cx="10322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1400" b="1" spc="-10" dirty="0">
                <a:solidFill>
                  <a:srgbClr val="20295C"/>
                </a:solidFill>
                <a:latin typeface="Calibri"/>
                <a:cs typeface="Calibri"/>
              </a:rPr>
              <a:t>Programming</a:t>
            </a:r>
            <a:r>
              <a:rPr sz="1400" b="1" spc="-15" dirty="0">
                <a:solidFill>
                  <a:srgbClr val="20295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0295C"/>
                </a:solidFill>
                <a:latin typeface="Calibri"/>
                <a:cs typeface="Calibri"/>
              </a:rPr>
              <a:t>Language</a:t>
            </a:r>
            <a:r>
              <a:rPr sz="1400" b="1" dirty="0">
                <a:solidFill>
                  <a:srgbClr val="20295C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1B1F26"/>
                </a:solidFill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102" y="2557652"/>
            <a:ext cx="10322560" cy="667385"/>
          </a:xfrm>
          <a:custGeom>
            <a:avLst/>
            <a:gdLst/>
            <a:ahLst/>
            <a:cxnLst/>
            <a:rect l="l" t="t" r="r" b="b"/>
            <a:pathLst>
              <a:path w="10322560" h="667385">
                <a:moveTo>
                  <a:pt x="10321956" y="666816"/>
                </a:moveTo>
                <a:lnTo>
                  <a:pt x="0" y="666816"/>
                </a:lnTo>
                <a:lnTo>
                  <a:pt x="0" y="0"/>
                </a:lnTo>
                <a:lnTo>
                  <a:pt x="10321956" y="0"/>
                </a:lnTo>
                <a:lnTo>
                  <a:pt x="10321956" y="666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2102" y="2767352"/>
            <a:ext cx="10322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1400" b="1" spc="-25" dirty="0">
                <a:solidFill>
                  <a:srgbClr val="20295C"/>
                </a:solidFill>
                <a:latin typeface="Calibri"/>
                <a:cs typeface="Calibri"/>
              </a:rPr>
              <a:t>GUI</a:t>
            </a:r>
            <a:r>
              <a:rPr sz="1400" b="1" dirty="0">
                <a:solidFill>
                  <a:srgbClr val="20295C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1B1F26"/>
                </a:solidFill>
                <a:latin typeface="Calibri"/>
                <a:cs typeface="Calibri"/>
              </a:rPr>
              <a:t>Tkinter</a:t>
            </a:r>
            <a:r>
              <a:rPr sz="1400" spc="-2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B1F26"/>
                </a:solidFill>
                <a:latin typeface="Calibri"/>
                <a:cs typeface="Calibri"/>
              </a:rPr>
              <a:t>/</a:t>
            </a:r>
            <a:r>
              <a:rPr sz="1400" spc="-1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B1F26"/>
                </a:solidFill>
                <a:latin typeface="Calibri"/>
                <a:cs typeface="Calibri"/>
              </a:rPr>
              <a:t>Flask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102" y="3334083"/>
            <a:ext cx="10322560" cy="667385"/>
          </a:xfrm>
          <a:custGeom>
            <a:avLst/>
            <a:gdLst/>
            <a:ahLst/>
            <a:cxnLst/>
            <a:rect l="l" t="t" r="r" b="b"/>
            <a:pathLst>
              <a:path w="10322560" h="667385">
                <a:moveTo>
                  <a:pt x="10321956" y="666816"/>
                </a:moveTo>
                <a:lnTo>
                  <a:pt x="0" y="666816"/>
                </a:lnTo>
                <a:lnTo>
                  <a:pt x="0" y="0"/>
                </a:lnTo>
                <a:lnTo>
                  <a:pt x="10321956" y="0"/>
                </a:lnTo>
                <a:lnTo>
                  <a:pt x="10321956" y="666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2102" y="3543782"/>
            <a:ext cx="10322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1400" b="1" spc="-10" dirty="0">
                <a:solidFill>
                  <a:srgbClr val="20295C"/>
                </a:solidFill>
                <a:latin typeface="Calibri"/>
                <a:cs typeface="Calibri"/>
              </a:rPr>
              <a:t>Database</a:t>
            </a:r>
            <a:r>
              <a:rPr sz="1400" b="1" dirty="0">
                <a:solidFill>
                  <a:srgbClr val="20295C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1B1F26"/>
                </a:solidFill>
                <a:latin typeface="Calibri"/>
                <a:cs typeface="Calibri"/>
              </a:rPr>
              <a:t>SQLite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2102" y="4110513"/>
            <a:ext cx="10322560" cy="667385"/>
          </a:xfrm>
          <a:custGeom>
            <a:avLst/>
            <a:gdLst/>
            <a:ahLst/>
            <a:cxnLst/>
            <a:rect l="l" t="t" r="r" b="b"/>
            <a:pathLst>
              <a:path w="10322560" h="667385">
                <a:moveTo>
                  <a:pt x="10321956" y="666816"/>
                </a:moveTo>
                <a:lnTo>
                  <a:pt x="0" y="666816"/>
                </a:lnTo>
                <a:lnTo>
                  <a:pt x="0" y="0"/>
                </a:lnTo>
                <a:lnTo>
                  <a:pt x="10321956" y="0"/>
                </a:lnTo>
                <a:lnTo>
                  <a:pt x="10321956" y="666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22102" y="4320212"/>
            <a:ext cx="10322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1400" b="1" spc="-25" dirty="0">
                <a:solidFill>
                  <a:srgbClr val="20295C"/>
                </a:solidFill>
                <a:latin typeface="Calibri"/>
                <a:cs typeface="Calibri"/>
              </a:rPr>
              <a:t>IDE</a:t>
            </a:r>
            <a:r>
              <a:rPr sz="1400" b="1" dirty="0">
                <a:solidFill>
                  <a:srgbClr val="20295C"/>
                </a:solid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1B1F26"/>
                </a:solidFill>
                <a:latin typeface="Calibri"/>
                <a:cs typeface="Calibri"/>
              </a:rPr>
              <a:t>VS</a:t>
            </a:r>
            <a:r>
              <a:rPr sz="1400" spc="-2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B1F26"/>
                </a:solidFill>
                <a:latin typeface="Calibri"/>
                <a:cs typeface="Calibri"/>
              </a:rPr>
              <a:t>Code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2102" y="4886943"/>
            <a:ext cx="10322560" cy="667385"/>
          </a:xfrm>
          <a:custGeom>
            <a:avLst/>
            <a:gdLst/>
            <a:ahLst/>
            <a:cxnLst/>
            <a:rect l="l" t="t" r="r" b="b"/>
            <a:pathLst>
              <a:path w="10322560" h="667385">
                <a:moveTo>
                  <a:pt x="10321956" y="666816"/>
                </a:moveTo>
                <a:lnTo>
                  <a:pt x="0" y="666816"/>
                </a:lnTo>
                <a:lnTo>
                  <a:pt x="0" y="0"/>
                </a:lnTo>
                <a:lnTo>
                  <a:pt x="10321956" y="0"/>
                </a:lnTo>
                <a:lnTo>
                  <a:pt x="10321956" y="6668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2102" y="5096643"/>
            <a:ext cx="10322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3685">
              <a:lnSpc>
                <a:spcPct val="100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1400" b="1" spc="-10" dirty="0">
                <a:solidFill>
                  <a:srgbClr val="20295C"/>
                </a:solidFill>
                <a:latin typeface="Calibri"/>
                <a:cs typeface="Calibri"/>
              </a:rPr>
              <a:t>Libraries</a:t>
            </a:r>
            <a:r>
              <a:rPr sz="1400" b="1" dirty="0">
                <a:solidFill>
                  <a:srgbClr val="20295C"/>
                </a:solid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1B1F26"/>
                </a:solidFill>
                <a:latin typeface="Calibri"/>
                <a:cs typeface="Calibri"/>
              </a:rPr>
              <a:t>psutil,</a:t>
            </a:r>
            <a:r>
              <a:rPr sz="1400" spc="-50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B1F26"/>
                </a:solidFill>
                <a:latin typeface="Calibri"/>
                <a:cs typeface="Calibri"/>
              </a:rPr>
              <a:t>ping3,</a:t>
            </a:r>
            <a:r>
              <a:rPr sz="140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B1F26"/>
                </a:solidFill>
                <a:latin typeface="Calibri"/>
                <a:cs typeface="Calibri"/>
              </a:rPr>
              <a:t>matplotlib,</a:t>
            </a:r>
            <a:r>
              <a:rPr sz="1400" spc="-45" dirty="0">
                <a:solidFill>
                  <a:srgbClr val="1B1F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B1F26"/>
                </a:solidFill>
                <a:latin typeface="Calibri"/>
                <a:cs typeface="Calibri"/>
              </a:rPr>
              <a:t>pandas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10" dirty="0"/>
              <a:t>Intelligent </a:t>
            </a:r>
            <a:r>
              <a:rPr dirty="0"/>
              <a:t>Network</a:t>
            </a:r>
            <a:r>
              <a:rPr spc="-5" dirty="0"/>
              <a:t> </a:t>
            </a:r>
            <a:r>
              <a:rPr spc="-10" dirty="0"/>
              <a:t>Diagnosis</a:t>
            </a:r>
            <a:r>
              <a:rPr spc="-5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Troubleshooting</a:t>
            </a:r>
            <a:r>
              <a:rPr spc="-5" dirty="0"/>
              <a:t> </a:t>
            </a:r>
            <a:r>
              <a:rPr spc="-10" dirty="0"/>
              <a:t>System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2029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8058" y="653355"/>
            <a:ext cx="598170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FFFF"/>
                </a:solidFill>
              </a:rPr>
              <a:t>Expected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Outcome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&amp;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Future</a:t>
            </a:r>
            <a:r>
              <a:rPr spc="-10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8058" y="1600105"/>
            <a:ext cx="136207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9ED3E7"/>
                </a:solidFill>
                <a:latin typeface="Calibri"/>
                <a:cs typeface="Calibri"/>
              </a:rPr>
              <a:t>EXPECTED</a:t>
            </a:r>
            <a:r>
              <a:rPr sz="1200" b="1" spc="-5" dirty="0">
                <a:solidFill>
                  <a:srgbClr val="9ED3E7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9ED3E7"/>
                </a:solidFill>
                <a:latin typeface="Calibri"/>
                <a:cs typeface="Calibri"/>
              </a:rPr>
              <a:t>OUTCOME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430" y="2082660"/>
            <a:ext cx="127882" cy="12788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37764" y="2060825"/>
            <a:ext cx="22491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Continuous</a:t>
            </a:r>
            <a:r>
              <a:rPr sz="1350" spc="-30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network</a:t>
            </a:r>
            <a:r>
              <a:rPr sz="1350" spc="-2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monitoring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430" y="2767745"/>
            <a:ext cx="127882" cy="1278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7764" y="2745911"/>
            <a:ext cx="150622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Faster</a:t>
            </a:r>
            <a:r>
              <a:rPr sz="1350" spc="-6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fault</a:t>
            </a:r>
            <a:r>
              <a:rPr sz="1350" spc="-60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detection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430" y="3452831"/>
            <a:ext cx="127882" cy="12788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37764" y="3430997"/>
            <a:ext cx="326707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Automated troubleshooting</a:t>
            </a:r>
            <a:r>
              <a:rPr sz="1350" spc="-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recommendations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430" y="4137917"/>
            <a:ext cx="127882" cy="12788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37764" y="4116082"/>
            <a:ext cx="19951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Reduced</a:t>
            </a:r>
            <a:r>
              <a:rPr sz="1350" spc="-4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network</a:t>
            </a:r>
            <a:r>
              <a:rPr sz="1350" spc="-4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downtime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1432" y="1600105"/>
            <a:ext cx="9734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9ED3E7"/>
                </a:solidFill>
                <a:latin typeface="Calibri"/>
                <a:cs typeface="Calibri"/>
              </a:rPr>
              <a:t>FUTURE</a:t>
            </a:r>
            <a:r>
              <a:rPr sz="1200" b="1" spc="-60" dirty="0">
                <a:solidFill>
                  <a:srgbClr val="9ED3E7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9ED3E7"/>
                </a:solidFill>
                <a:latin typeface="Calibri"/>
                <a:cs typeface="Calibri"/>
              </a:rPr>
              <a:t>SCOPE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804" y="2082660"/>
            <a:ext cx="127882" cy="1278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701139" y="2060825"/>
            <a:ext cx="174053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AI-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based</a:t>
            </a:r>
            <a:r>
              <a:rPr sz="1350" spc="-50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fault</a:t>
            </a:r>
            <a:r>
              <a:rPr sz="1350" spc="-4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prediction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804" y="2648997"/>
            <a:ext cx="127882" cy="12788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701139" y="2627163"/>
            <a:ext cx="125095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SNMP</a:t>
            </a:r>
            <a:r>
              <a:rPr sz="1350" spc="-4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integration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804" y="3215335"/>
            <a:ext cx="127882" cy="12788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701139" y="3193500"/>
            <a:ext cx="123698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Cloud</a:t>
            </a:r>
            <a:r>
              <a:rPr sz="1350" spc="-4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monitoring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804" y="3781672"/>
            <a:ext cx="127882" cy="12788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701139" y="3759838"/>
            <a:ext cx="132397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Mobile</a:t>
            </a:r>
            <a:r>
              <a:rPr sz="1350" spc="-50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application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804" y="4348010"/>
            <a:ext cx="127882" cy="12788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701139" y="4326175"/>
            <a:ext cx="128333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Email</a:t>
            </a:r>
            <a:r>
              <a:rPr sz="1350" spc="-30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/</a:t>
            </a:r>
            <a:r>
              <a:rPr sz="1350" spc="-30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E3EDF1"/>
                </a:solidFill>
                <a:latin typeface="Calibri"/>
                <a:cs typeface="Calibri"/>
              </a:rPr>
              <a:t>SMS</a:t>
            </a:r>
            <a:r>
              <a:rPr sz="1350" spc="-25" dirty="0">
                <a:solidFill>
                  <a:srgbClr val="E3EDF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E3EDF1"/>
                </a:solidFill>
                <a:latin typeface="Calibri"/>
                <a:cs typeface="Calibri"/>
              </a:rPr>
              <a:t>alerts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8058" y="6131502"/>
            <a:ext cx="11385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i="1" dirty="0">
                <a:solidFill>
                  <a:srgbClr val="9ED3E7"/>
                </a:solidFill>
                <a:latin typeface="Cambria"/>
                <a:cs typeface="Cambria"/>
              </a:rPr>
              <a:t>Thank</a:t>
            </a:r>
            <a:r>
              <a:rPr sz="2000" i="1" spc="-70" dirty="0">
                <a:solidFill>
                  <a:srgbClr val="9ED3E7"/>
                </a:solidFill>
                <a:latin typeface="Cambria"/>
                <a:cs typeface="Cambria"/>
              </a:rPr>
              <a:t> </a:t>
            </a:r>
            <a:r>
              <a:rPr sz="2000" i="1" spc="-35" dirty="0">
                <a:solidFill>
                  <a:srgbClr val="9ED3E7"/>
                </a:solidFill>
                <a:latin typeface="Cambria"/>
                <a:cs typeface="Cambria"/>
              </a:rPr>
              <a:t>You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376</Words>
  <Application>Microsoft Office PowerPoint</Application>
  <PresentationFormat>Custom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Cambria</vt:lpstr>
      <vt:lpstr>Office Theme</vt:lpstr>
      <vt:lpstr>PowerPoint Presentation</vt:lpstr>
      <vt:lpstr>Zero th</vt:lpstr>
      <vt:lpstr>Introduction</vt:lpstr>
      <vt:lpstr>Problem Statement</vt:lpstr>
      <vt:lpstr>Aim &amp; Objectives</vt:lpstr>
      <vt:lpstr>Proposed System</vt:lpstr>
      <vt:lpstr>Module 1 – Real-Time Monitoring</vt:lpstr>
      <vt:lpstr>Module 2 – Intelligent Diagnosis</vt:lpstr>
      <vt:lpstr>Module 3 – Troubleshooting &amp; Reporting</vt:lpstr>
      <vt:lpstr>Software &amp; Tools</vt:lpstr>
      <vt:lpstr>Expected Outcome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Bhavesh Ns</cp:lastModifiedBy>
  <cp:revision>1</cp:revision>
  <dcterms:created xsi:type="dcterms:W3CDTF">2026-08-03T04:30:18Z</dcterms:created>
  <dcterms:modified xsi:type="dcterms:W3CDTF">2026-08-03T06:24:36Z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2026-08-03T00:00:00Z</vt:filetime>
  </property>
</Properties>
</file>